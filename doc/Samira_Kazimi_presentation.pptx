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310" r:id="rId5"/>
    <p:sldId id="309" r:id="rId6"/>
    <p:sldId id="299" r:id="rId7"/>
    <p:sldId id="303" r:id="rId8"/>
    <p:sldId id="321" r:id="rId9"/>
    <p:sldId id="300" r:id="rId10"/>
    <p:sldId id="318" r:id="rId11"/>
    <p:sldId id="319" r:id="rId12"/>
    <p:sldId id="320" r:id="rId13"/>
    <p:sldId id="323" r:id="rId14"/>
    <p:sldId id="324" r:id="rId15"/>
    <p:sldId id="325" r:id="rId16"/>
    <p:sldId id="326" r:id="rId17"/>
    <p:sldId id="327" r:id="rId18"/>
    <p:sldId id="32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2"/>
    <p:restoredTop sz="94660"/>
  </p:normalViewPr>
  <p:slideViewPr>
    <p:cSldViewPr snapToGrid="0">
      <p:cViewPr varScale="1">
        <p:scale>
          <a:sx n="118" d="100"/>
          <a:sy n="118" d="100"/>
        </p:scale>
        <p:origin x="432" y="2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ra Bayat" userId="8ac7a2c9ddbaa057" providerId="LiveId" clId="{23DD2B0A-015E-530F-80CA-2E50C1E8E0F6}"/>
    <pc:docChg chg="undo custSel addSld modSld">
      <pc:chgData name="Samira Bayat" userId="8ac7a2c9ddbaa057" providerId="LiveId" clId="{23DD2B0A-015E-530F-80CA-2E50C1E8E0F6}" dt="2025-12-08T07:17:37.958" v="414" actId="20577"/>
      <pc:docMkLst>
        <pc:docMk/>
      </pc:docMkLst>
      <pc:sldChg chg="modSp mod">
        <pc:chgData name="Samira Bayat" userId="8ac7a2c9ddbaa057" providerId="LiveId" clId="{23DD2B0A-015E-530F-80CA-2E50C1E8E0F6}" dt="2025-12-08T06:15:55.520" v="275" actId="14826"/>
        <pc:sldMkLst>
          <pc:docMk/>
          <pc:sldMk cId="1884517732" sldId="300"/>
        </pc:sldMkLst>
        <pc:spChg chg="mod">
          <ac:chgData name="Samira Bayat" userId="8ac7a2c9ddbaa057" providerId="LiveId" clId="{23DD2B0A-015E-530F-80CA-2E50C1E8E0F6}" dt="2025-12-04T22:11:49.940" v="173" actId="20577"/>
          <ac:spMkLst>
            <pc:docMk/>
            <pc:sldMk cId="1884517732" sldId="300"/>
            <ac:spMk id="14" creationId="{24BD874C-C719-13DC-1742-04A1CF06FF43}"/>
          </ac:spMkLst>
        </pc:spChg>
        <pc:picChg chg="mod">
          <ac:chgData name="Samira Bayat" userId="8ac7a2c9ddbaa057" providerId="LiveId" clId="{23DD2B0A-015E-530F-80CA-2E50C1E8E0F6}" dt="2025-12-08T06:15:55.520" v="275" actId="14826"/>
          <ac:picMkLst>
            <pc:docMk/>
            <pc:sldMk cId="1884517732" sldId="300"/>
            <ac:picMk id="13" creationId="{3B54BF30-47C1-B2D0-46B6-3BF5F4E09A77}"/>
          </ac:picMkLst>
        </pc:picChg>
      </pc:sldChg>
      <pc:sldChg chg="modSp mod">
        <pc:chgData name="Samira Bayat" userId="8ac7a2c9ddbaa057" providerId="LiveId" clId="{23DD2B0A-015E-530F-80CA-2E50C1E8E0F6}" dt="2025-12-08T07:16:44.770" v="395" actId="1036"/>
        <pc:sldMkLst>
          <pc:docMk/>
          <pc:sldMk cId="1740955479" sldId="318"/>
        </pc:sldMkLst>
        <pc:spChg chg="mod">
          <ac:chgData name="Samira Bayat" userId="8ac7a2c9ddbaa057" providerId="LiveId" clId="{23DD2B0A-015E-530F-80CA-2E50C1E8E0F6}" dt="2025-12-08T07:16:44.770" v="395" actId="1036"/>
          <ac:spMkLst>
            <pc:docMk/>
            <pc:sldMk cId="1740955479" sldId="318"/>
            <ac:spMk id="4" creationId="{678A02D4-1034-5CF1-2366-4CF1E984FB79}"/>
          </ac:spMkLst>
        </pc:spChg>
        <pc:picChg chg="mod">
          <ac:chgData name="Samira Bayat" userId="8ac7a2c9ddbaa057" providerId="LiveId" clId="{23DD2B0A-015E-530F-80CA-2E50C1E8E0F6}" dt="2025-12-08T06:15:39.464" v="274" actId="14826"/>
          <ac:picMkLst>
            <pc:docMk/>
            <pc:sldMk cId="1740955479" sldId="318"/>
            <ac:picMk id="13" creationId="{3F317CCE-7F7A-A3BA-3459-38555E2D5D49}"/>
          </ac:picMkLst>
        </pc:picChg>
      </pc:sldChg>
      <pc:sldChg chg="addSp modSp mod">
        <pc:chgData name="Samira Bayat" userId="8ac7a2c9ddbaa057" providerId="LiveId" clId="{23DD2B0A-015E-530F-80CA-2E50C1E8E0F6}" dt="2025-12-08T07:16:36.870" v="378" actId="1036"/>
        <pc:sldMkLst>
          <pc:docMk/>
          <pc:sldMk cId="633028945" sldId="319"/>
        </pc:sldMkLst>
        <pc:spChg chg="mod">
          <ac:chgData name="Samira Bayat" userId="8ac7a2c9ddbaa057" providerId="LiveId" clId="{23DD2B0A-015E-530F-80CA-2E50C1E8E0F6}" dt="2025-12-08T07:16:36.870" v="378" actId="1036"/>
          <ac:spMkLst>
            <pc:docMk/>
            <pc:sldMk cId="633028945" sldId="319"/>
            <ac:spMk id="11" creationId="{2637F0FD-232F-9E7A-ECA4-8EBFE8295C2C}"/>
          </ac:spMkLst>
        </pc:spChg>
        <pc:picChg chg="mod">
          <ac:chgData name="Samira Bayat" userId="8ac7a2c9ddbaa057" providerId="LiveId" clId="{23DD2B0A-015E-530F-80CA-2E50C1E8E0F6}" dt="2025-12-08T06:15:22.096" v="273" actId="14826"/>
          <ac:picMkLst>
            <pc:docMk/>
            <pc:sldMk cId="633028945" sldId="319"/>
            <ac:picMk id="13" creationId="{A2928B67-4B05-4C64-85B0-E73E5AA0DA7B}"/>
          </ac:picMkLst>
        </pc:picChg>
      </pc:sldChg>
      <pc:sldChg chg="addSp modSp mod">
        <pc:chgData name="Samira Bayat" userId="8ac7a2c9ddbaa057" providerId="LiveId" clId="{23DD2B0A-015E-530F-80CA-2E50C1E8E0F6}" dt="2025-12-08T07:16:29.030" v="363" actId="1036"/>
        <pc:sldMkLst>
          <pc:docMk/>
          <pc:sldMk cId="2012397678" sldId="320"/>
        </pc:sldMkLst>
        <pc:spChg chg="mod">
          <ac:chgData name="Samira Bayat" userId="8ac7a2c9ddbaa057" providerId="LiveId" clId="{23DD2B0A-015E-530F-80CA-2E50C1E8E0F6}" dt="2025-12-02T21:25:35.232" v="10"/>
          <ac:spMkLst>
            <pc:docMk/>
            <pc:sldMk cId="2012397678" sldId="320"/>
            <ac:spMk id="3" creationId="{EDE8116F-71CC-E49B-C37F-E69D76ED47BE}"/>
          </ac:spMkLst>
        </pc:spChg>
        <pc:spChg chg="mod">
          <ac:chgData name="Samira Bayat" userId="8ac7a2c9ddbaa057" providerId="LiveId" clId="{23DD2B0A-015E-530F-80CA-2E50C1E8E0F6}" dt="2025-12-08T07:16:29.030" v="363" actId="1036"/>
          <ac:spMkLst>
            <pc:docMk/>
            <pc:sldMk cId="2012397678" sldId="320"/>
            <ac:spMk id="11" creationId="{8414EC39-6198-6D7A-11EB-68E932FFC585}"/>
          </ac:spMkLst>
        </pc:spChg>
        <pc:picChg chg="mod">
          <ac:chgData name="Samira Bayat" userId="8ac7a2c9ddbaa057" providerId="LiveId" clId="{23DD2B0A-015E-530F-80CA-2E50C1E8E0F6}" dt="2025-12-08T06:15:09.505" v="272" actId="14826"/>
          <ac:picMkLst>
            <pc:docMk/>
            <pc:sldMk cId="2012397678" sldId="320"/>
            <ac:picMk id="13" creationId="{1C4B665D-54E2-D7BE-7939-2A9EC1755931}"/>
          </ac:picMkLst>
        </pc:picChg>
      </pc:sldChg>
      <pc:sldChg chg="addSp delSp modSp mod">
        <pc:chgData name="Samira Bayat" userId="8ac7a2c9ddbaa057" providerId="LiveId" clId="{23DD2B0A-015E-530F-80CA-2E50C1E8E0F6}" dt="2025-12-08T07:16:53.008" v="410" actId="1036"/>
        <pc:sldMkLst>
          <pc:docMk/>
          <pc:sldMk cId="1429378041" sldId="321"/>
        </pc:sldMkLst>
        <pc:spChg chg="add del mod">
          <ac:chgData name="Samira Bayat" userId="8ac7a2c9ddbaa057" providerId="LiveId" clId="{23DD2B0A-015E-530F-80CA-2E50C1E8E0F6}" dt="2025-12-08T07:16:53.008" v="410" actId="1036"/>
          <ac:spMkLst>
            <pc:docMk/>
            <pc:sldMk cId="1429378041" sldId="321"/>
            <ac:spMk id="4" creationId="{8F81415F-AAE8-CDBE-3197-F835C065AF02}"/>
          </ac:spMkLst>
        </pc:spChg>
        <pc:picChg chg="mod">
          <ac:chgData name="Samira Bayat" userId="8ac7a2c9ddbaa057" providerId="LiveId" clId="{23DD2B0A-015E-530F-80CA-2E50C1E8E0F6}" dt="2025-12-08T06:16:06" v="276" actId="14826"/>
          <ac:picMkLst>
            <pc:docMk/>
            <pc:sldMk cId="1429378041" sldId="321"/>
            <ac:picMk id="13" creationId="{BF842187-3756-103C-4339-92CC6C6880A3}"/>
          </ac:picMkLst>
        </pc:picChg>
      </pc:sldChg>
      <pc:sldChg chg="delSp modSp mod">
        <pc:chgData name="Samira Bayat" userId="8ac7a2c9ddbaa057" providerId="LiveId" clId="{23DD2B0A-015E-530F-80CA-2E50C1E8E0F6}" dt="2025-12-04T22:21:10.593" v="258" actId="122"/>
        <pc:sldMkLst>
          <pc:docMk/>
          <pc:sldMk cId="178438360" sldId="322"/>
        </pc:sldMkLst>
        <pc:spChg chg="mod">
          <ac:chgData name="Samira Bayat" userId="8ac7a2c9ddbaa057" providerId="LiveId" clId="{23DD2B0A-015E-530F-80CA-2E50C1E8E0F6}" dt="2025-12-04T22:21:10.593" v="258" actId="122"/>
          <ac:spMkLst>
            <pc:docMk/>
            <pc:sldMk cId="178438360" sldId="322"/>
            <ac:spMk id="3" creationId="{479643CF-146C-E7E9-CCA3-7152FB3A9D30}"/>
          </ac:spMkLst>
        </pc:spChg>
      </pc:sldChg>
      <pc:sldChg chg="addSp modSp mod">
        <pc:chgData name="Samira Bayat" userId="8ac7a2c9ddbaa057" providerId="LiveId" clId="{23DD2B0A-015E-530F-80CA-2E50C1E8E0F6}" dt="2025-12-08T07:17:37.958" v="414" actId="20577"/>
        <pc:sldMkLst>
          <pc:docMk/>
          <pc:sldMk cId="1197401223" sldId="323"/>
        </pc:sldMkLst>
        <pc:spChg chg="mod">
          <ac:chgData name="Samira Bayat" userId="8ac7a2c9ddbaa057" providerId="LiveId" clId="{23DD2B0A-015E-530F-80CA-2E50C1E8E0F6}" dt="2025-12-02T21:42:17.078" v="26"/>
          <ac:spMkLst>
            <pc:docMk/>
            <pc:sldMk cId="1197401223" sldId="323"/>
            <ac:spMk id="3" creationId="{52E960D5-D62D-AF41-7B6E-BF968FDFBFA3}"/>
          </ac:spMkLst>
        </pc:spChg>
        <pc:spChg chg="mod">
          <ac:chgData name="Samira Bayat" userId="8ac7a2c9ddbaa057" providerId="LiveId" clId="{23DD2B0A-015E-530F-80CA-2E50C1E8E0F6}" dt="2025-12-08T07:17:37.958" v="414" actId="20577"/>
          <ac:spMkLst>
            <pc:docMk/>
            <pc:sldMk cId="1197401223" sldId="323"/>
            <ac:spMk id="11" creationId="{9DD4A821-31DF-E420-EB0F-862F6926396F}"/>
          </ac:spMkLst>
        </pc:spChg>
        <pc:picChg chg="mod">
          <ac:chgData name="Samira Bayat" userId="8ac7a2c9ddbaa057" providerId="LiveId" clId="{23DD2B0A-015E-530F-80CA-2E50C1E8E0F6}" dt="2025-12-08T06:14:57.572" v="271" actId="14826"/>
          <ac:picMkLst>
            <pc:docMk/>
            <pc:sldMk cId="1197401223" sldId="323"/>
            <ac:picMk id="13" creationId="{CD3A3E57-F1BF-C78D-16EE-B552CE70B615}"/>
          </ac:picMkLst>
        </pc:picChg>
      </pc:sldChg>
      <pc:sldChg chg="modSp mod">
        <pc:chgData name="Samira Bayat" userId="8ac7a2c9ddbaa057" providerId="LiveId" clId="{23DD2B0A-015E-530F-80CA-2E50C1E8E0F6}" dt="2025-12-08T07:16:16.453" v="332" actId="1036"/>
        <pc:sldMkLst>
          <pc:docMk/>
          <pc:sldMk cId="40387597" sldId="324"/>
        </pc:sldMkLst>
        <pc:spChg chg="mod">
          <ac:chgData name="Samira Bayat" userId="8ac7a2c9ddbaa057" providerId="LiveId" clId="{23DD2B0A-015E-530F-80CA-2E50C1E8E0F6}" dt="2025-12-02T22:05:36.569" v="40"/>
          <ac:spMkLst>
            <pc:docMk/>
            <pc:sldMk cId="40387597" sldId="324"/>
            <ac:spMk id="3" creationId="{36A3CCE2-3B22-9DE0-FE7F-00DE7EBBA268}"/>
          </ac:spMkLst>
        </pc:spChg>
        <pc:spChg chg="mod">
          <ac:chgData name="Samira Bayat" userId="8ac7a2c9ddbaa057" providerId="LiveId" clId="{23DD2B0A-015E-530F-80CA-2E50C1E8E0F6}" dt="2025-12-08T07:16:16.453" v="332" actId="1036"/>
          <ac:spMkLst>
            <pc:docMk/>
            <pc:sldMk cId="40387597" sldId="324"/>
            <ac:spMk id="11" creationId="{2DBECD17-ACFF-497F-1F17-379C8F69066C}"/>
          </ac:spMkLst>
        </pc:spChg>
        <pc:picChg chg="mod">
          <ac:chgData name="Samira Bayat" userId="8ac7a2c9ddbaa057" providerId="LiveId" clId="{23DD2B0A-015E-530F-80CA-2E50C1E8E0F6}" dt="2025-12-08T06:14:44.150" v="270" actId="14826"/>
          <ac:picMkLst>
            <pc:docMk/>
            <pc:sldMk cId="40387597" sldId="324"/>
            <ac:picMk id="13" creationId="{2112970B-F5A2-A639-6C7A-D105A94E650C}"/>
          </ac:picMkLst>
        </pc:picChg>
      </pc:sldChg>
      <pc:sldChg chg="modSp mod">
        <pc:chgData name="Samira Bayat" userId="8ac7a2c9ddbaa057" providerId="LiveId" clId="{23DD2B0A-015E-530F-80CA-2E50C1E8E0F6}" dt="2025-12-08T07:16:22.815" v="354" actId="1036"/>
        <pc:sldMkLst>
          <pc:docMk/>
          <pc:sldMk cId="429625661" sldId="325"/>
        </pc:sldMkLst>
        <pc:spChg chg="mod">
          <ac:chgData name="Samira Bayat" userId="8ac7a2c9ddbaa057" providerId="LiveId" clId="{23DD2B0A-015E-530F-80CA-2E50C1E8E0F6}" dt="2025-12-02T22:14:07.413" v="43"/>
          <ac:spMkLst>
            <pc:docMk/>
            <pc:sldMk cId="429625661" sldId="325"/>
            <ac:spMk id="3" creationId="{AF3B6729-3994-5244-BC89-0D18A0B7956A}"/>
          </ac:spMkLst>
        </pc:spChg>
        <pc:spChg chg="mod">
          <ac:chgData name="Samira Bayat" userId="8ac7a2c9ddbaa057" providerId="LiveId" clId="{23DD2B0A-015E-530F-80CA-2E50C1E8E0F6}" dt="2025-12-08T07:16:22.815" v="354" actId="1036"/>
          <ac:spMkLst>
            <pc:docMk/>
            <pc:sldMk cId="429625661" sldId="325"/>
            <ac:spMk id="11" creationId="{9AFC8739-6A5C-5084-4736-FF28AAD185CB}"/>
          </ac:spMkLst>
        </pc:spChg>
        <pc:picChg chg="mod">
          <ac:chgData name="Samira Bayat" userId="8ac7a2c9ddbaa057" providerId="LiveId" clId="{23DD2B0A-015E-530F-80CA-2E50C1E8E0F6}" dt="2025-12-08T06:13:54.676" v="267" actId="14826"/>
          <ac:picMkLst>
            <pc:docMk/>
            <pc:sldMk cId="429625661" sldId="325"/>
            <ac:picMk id="13" creationId="{23F90736-852B-1A6C-E167-F1A78A166F5E}"/>
          </ac:picMkLst>
        </pc:picChg>
      </pc:sldChg>
      <pc:sldChg chg="addSp delSp modSp">
        <pc:chgData name="Samira Bayat" userId="8ac7a2c9ddbaa057" providerId="LiveId" clId="{23DD2B0A-015E-530F-80CA-2E50C1E8E0F6}" dt="2025-12-02T22:31:10.041" v="56"/>
        <pc:sldMkLst>
          <pc:docMk/>
          <pc:sldMk cId="2833705873" sldId="326"/>
        </pc:sldMkLst>
        <pc:spChg chg="mod">
          <ac:chgData name="Samira Bayat" userId="8ac7a2c9ddbaa057" providerId="LiveId" clId="{23DD2B0A-015E-530F-80CA-2E50C1E8E0F6}" dt="2025-12-02T22:28:40.666" v="54"/>
          <ac:spMkLst>
            <pc:docMk/>
            <pc:sldMk cId="2833705873" sldId="326"/>
            <ac:spMk id="7" creationId="{9488F07B-182A-5354-A632-3BE48D53997A}"/>
          </ac:spMkLst>
        </pc:spChg>
      </pc:sldChg>
      <pc:sldChg chg="modSp new mod">
        <pc:chgData name="Samira Bayat" userId="8ac7a2c9ddbaa057" providerId="LiveId" clId="{23DD2B0A-015E-530F-80CA-2E50C1E8E0F6}" dt="2025-12-08T07:15:33.902" v="296" actId="113"/>
        <pc:sldMkLst>
          <pc:docMk/>
          <pc:sldMk cId="3493339399" sldId="327"/>
        </pc:sldMkLst>
        <pc:spChg chg="mod">
          <ac:chgData name="Samira Bayat" userId="8ac7a2c9ddbaa057" providerId="LiveId" clId="{23DD2B0A-015E-530F-80CA-2E50C1E8E0F6}" dt="2025-12-08T07:15:33.902" v="296" actId="113"/>
          <ac:spMkLst>
            <pc:docMk/>
            <pc:sldMk cId="3493339399" sldId="327"/>
            <ac:spMk id="2" creationId="{848CE8BE-6860-6426-2E81-C2652F2F710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12/7/25</a:t>
            </a:fld>
            <a:endParaRPr lang="en-US"/>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5E7A3-1C5C-7629-2ABE-9F47600BD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869F3-0830-75F2-E6E3-22D76D3044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DD047-60C9-F442-BAC0-590F11471F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D550E8-791C-D576-2255-6246DA09B529}"/>
              </a:ext>
            </a:extLst>
          </p:cNvPr>
          <p:cNvSpPr>
            <a:spLocks noGrp="1"/>
          </p:cNvSpPr>
          <p:nvPr>
            <p:ph type="sldNum" sz="quarter" idx="5"/>
          </p:nvPr>
        </p:nvSpPr>
        <p:spPr/>
        <p:txBody>
          <a:bodyPr/>
          <a:lstStyle/>
          <a:p>
            <a:fld id="{F5B62BC0-7DC4-4569-951D-2BB9475345C6}" type="slidenum">
              <a:rPr lang="en-US" smtClean="0"/>
              <a:t>15</a:t>
            </a:fld>
            <a:endParaRPr lang="en-US"/>
          </a:p>
        </p:txBody>
      </p:sp>
    </p:spTree>
    <p:extLst>
      <p:ext uri="{BB962C8B-B14F-4D97-AF65-F5344CB8AC3E}">
        <p14:creationId xmlns:p14="http://schemas.microsoft.com/office/powerpoint/2010/main" val="3243157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00423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6713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347649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0019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03120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414765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691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137880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a:p>
        </p:txBody>
      </p:sp>
    </p:spTree>
    <p:extLst>
      <p:ext uri="{BB962C8B-B14F-4D97-AF65-F5344CB8AC3E}">
        <p14:creationId xmlns:p14="http://schemas.microsoft.com/office/powerpoint/2010/main" val="78116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a:t>Click to add photo</a:t>
            </a:r>
          </a:p>
        </p:txBody>
      </p:sp>
    </p:spTree>
    <p:extLst>
      <p:ext uri="{BB962C8B-B14F-4D97-AF65-F5344CB8AC3E}">
        <p14:creationId xmlns:p14="http://schemas.microsoft.com/office/powerpoint/2010/main" val="425779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73" r:id="rId3"/>
    <p:sldLayoutId id="2147483669" r:id="rId4"/>
    <p:sldLayoutId id="2147483651" r:id="rId5"/>
    <p:sldLayoutId id="2147483671" r:id="rId6"/>
    <p:sldLayoutId id="2147483652" r:id="rId7"/>
    <p:sldLayoutId id="2147483653" r:id="rId8"/>
    <p:sldLayoutId id="2147483650" r:id="rId9"/>
    <p:sldLayoutId id="2147483664" r:id="rId10"/>
    <p:sldLayoutId id="2147483659" r:id="rId11"/>
    <p:sldLayoutId id="2147483662" r:id="rId12"/>
    <p:sldLayoutId id="21474836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E4A4B5C-D71A-0CFA-A601-EB93F13F5AA0}"/>
              </a:ext>
            </a:extLst>
          </p:cNvPr>
          <p:cNvPicPr>
            <a:picLocks noGrp="1" noChangeAspect="1"/>
          </p:cNvPicPr>
          <p:nvPr>
            <p:ph type="pic" sz="quarter" idx="10"/>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1033670" y="238549"/>
            <a:ext cx="10045148" cy="1166191"/>
          </a:xfrm>
        </p:spPr>
        <p:txBody>
          <a:bodyPr/>
          <a:lstStyle/>
          <a:p>
            <a:r>
              <a:rPr lang="en-US" sz="3200" cap="none">
                <a:solidFill>
                  <a:schemeClr val="tx1"/>
                </a:solidFill>
              </a:rPr>
              <a:t>Correlation Between Breastfeeding Practices &amp; Gluten Sensitivity Risk</a:t>
            </a:r>
          </a:p>
        </p:txBody>
      </p:sp>
      <p:sp>
        <p:nvSpPr>
          <p:cNvPr id="2" name="TextBox 1">
            <a:extLst>
              <a:ext uri="{FF2B5EF4-FFF2-40B4-BE49-F238E27FC236}">
                <a16:creationId xmlns:a16="http://schemas.microsoft.com/office/drawing/2014/main" id="{333741E0-EE2D-F4F0-1689-A903C5E82985}"/>
              </a:ext>
            </a:extLst>
          </p:cNvPr>
          <p:cNvSpPr txBox="1"/>
          <p:nvPr/>
        </p:nvSpPr>
        <p:spPr>
          <a:xfrm>
            <a:off x="5128592" y="2743201"/>
            <a:ext cx="2145010" cy="830997"/>
          </a:xfrm>
          <a:prstGeom prst="rect">
            <a:avLst/>
          </a:prstGeom>
          <a:noFill/>
        </p:spPr>
        <p:txBody>
          <a:bodyPr wrap="none" rtlCol="0">
            <a:spAutoFit/>
          </a:bodyPr>
          <a:lstStyle/>
          <a:p>
            <a:pPr algn="ctr"/>
            <a:r>
              <a:rPr lang="en-US" sz="2400" b="1"/>
              <a:t>Samira Kazimi</a:t>
            </a:r>
          </a:p>
          <a:p>
            <a:pPr algn="ctr"/>
            <a:r>
              <a:rPr lang="en-US" sz="2400" b="1"/>
              <a:t>DSCI510</a:t>
            </a: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green rolling hills with a sunset">
            <a:extLst>
              <a:ext uri="{FF2B5EF4-FFF2-40B4-BE49-F238E27FC236}">
                <a16:creationId xmlns:a16="http://schemas.microsoft.com/office/drawing/2014/main" id="{565AB0FC-9FCD-FDB2-1D84-F3D855D83877}"/>
              </a:ext>
            </a:extLst>
          </p:cNvPr>
          <p:cNvPicPr>
            <a:picLocks noGrp="1" noChangeAspect="1"/>
          </p:cNvPicPr>
          <p:nvPr>
            <p:ph type="pic" sz="quarter" idx="10"/>
          </p:nvPr>
        </p:nvPicPr>
        <p:blipFill>
          <a:blip r:embed="rId2"/>
          <a:srcRect/>
          <a:stretch/>
        </p:blipFill>
        <p:spPr>
          <a:xfrm>
            <a:off x="1" y="0"/>
            <a:ext cx="2785730" cy="6858000"/>
          </a:xfrm>
        </p:spPr>
      </p:pic>
      <p:sp>
        <p:nvSpPr>
          <p:cNvPr id="47" name="Title 46">
            <a:extLst>
              <a:ext uri="{FF2B5EF4-FFF2-40B4-BE49-F238E27FC236}">
                <a16:creationId xmlns:a16="http://schemas.microsoft.com/office/drawing/2014/main" id="{3F9E60C6-15AA-4C95-9519-652CD08A827C}"/>
              </a:ext>
            </a:extLst>
          </p:cNvPr>
          <p:cNvSpPr>
            <a:spLocks noGrp="1"/>
          </p:cNvSpPr>
          <p:nvPr>
            <p:ph type="title"/>
          </p:nvPr>
        </p:nvSpPr>
        <p:spPr>
          <a:xfrm>
            <a:off x="5813225" y="514996"/>
            <a:ext cx="4377400" cy="1122422"/>
          </a:xfrm>
        </p:spPr>
        <p:txBody>
          <a:bodyPr/>
          <a:lstStyle/>
          <a:p>
            <a:r>
              <a:rPr lang="en-US" b="1">
                <a:solidFill>
                  <a:schemeClr val="tx1"/>
                </a:solidFill>
              </a:rPr>
              <a:t>Project Introduction</a:t>
            </a:r>
          </a:p>
        </p:txBody>
      </p:sp>
      <p:sp>
        <p:nvSpPr>
          <p:cNvPr id="4" name="Text Placeholder 3">
            <a:extLst>
              <a:ext uri="{FF2B5EF4-FFF2-40B4-BE49-F238E27FC236}">
                <a16:creationId xmlns:a16="http://schemas.microsoft.com/office/drawing/2014/main" id="{39D3AADE-5119-8CE2-0DD5-2BD7E3403288}"/>
              </a:ext>
            </a:extLst>
          </p:cNvPr>
          <p:cNvSpPr>
            <a:spLocks noGrp="1"/>
          </p:cNvSpPr>
          <p:nvPr>
            <p:ph type="body" sz="quarter" idx="11"/>
          </p:nvPr>
        </p:nvSpPr>
        <p:spPr>
          <a:xfrm>
            <a:off x="4774019" y="2360427"/>
            <a:ext cx="6835369" cy="3848987"/>
          </a:xfrm>
        </p:spPr>
        <p:txBody>
          <a:bodyPr/>
          <a:lstStyle/>
          <a:p>
            <a:r>
              <a:rPr lang="en-US" sz="1900" b="1"/>
              <a:t>Research Question:</a:t>
            </a:r>
            <a:r>
              <a:rPr lang="en-US" sz="1900"/>
              <a:t> </a:t>
            </a:r>
            <a:r>
              <a:rPr lang="en-US"/>
              <a:t>Are early breastfeeding duration and exclusivity correlated with celiac disease risk later in life?</a:t>
            </a:r>
          </a:p>
          <a:p>
            <a:r>
              <a:rPr lang="en-US" sz="1900" b="1"/>
              <a:t>Motivation:</a:t>
            </a:r>
            <a:r>
              <a:rPr lang="en-US" sz="1900"/>
              <a:t> </a:t>
            </a:r>
            <a:r>
              <a:rPr lang="en-US"/>
              <a:t>Understanding breastfeeding's protective effects on gluten sensitivity can inform evidence-based public health policy</a:t>
            </a:r>
          </a:p>
          <a:p>
            <a:r>
              <a:rPr lang="en-US" sz="1900" b="1"/>
              <a:t>Approach:</a:t>
            </a:r>
            <a:r>
              <a:rPr lang="en-US" sz="1900"/>
              <a:t> </a:t>
            </a:r>
            <a:r>
              <a:rPr lang="en-US"/>
              <a:t>Multi-dataset integration with correlation analysis and statistical visualization</a:t>
            </a:r>
          </a:p>
          <a:p>
            <a:r>
              <a:rPr lang="en-US" sz="1900" b="1"/>
              <a:t>Impact:</a:t>
            </a:r>
            <a:r>
              <a:rPr lang="en-US" sz="1900"/>
              <a:t> </a:t>
            </a:r>
            <a:r>
              <a:rPr lang="en-US"/>
              <a:t>Contribute to infant nutrition and health outcomes research</a:t>
            </a:r>
          </a:p>
        </p:txBody>
      </p:sp>
      <p:sp>
        <p:nvSpPr>
          <p:cNvPr id="20" name="Slide Number Placeholder 19">
            <a:extLst>
              <a:ext uri="{FF2B5EF4-FFF2-40B4-BE49-F238E27FC236}">
                <a16:creationId xmlns:a16="http://schemas.microsoft.com/office/drawing/2014/main" id="{DA9558D5-EB6D-C2EA-C5E2-790769448541}"/>
              </a:ext>
            </a:extLst>
          </p:cNvPr>
          <p:cNvSpPr>
            <a:spLocks noGrp="1"/>
          </p:cNvSpPr>
          <p:nvPr>
            <p:ph type="sldNum" sz="quarter" idx="4"/>
          </p:nvPr>
        </p:nvSpPr>
        <p:spPr/>
        <p:txBody>
          <a:bodyPr/>
          <a:lstStyle/>
          <a:p>
            <a:fld id="{EA87306C-81BA-4795-A5CA-9392456A8C1E}" type="slidenum">
              <a:rPr lang="en-US" smtClean="0"/>
              <a:pPr/>
              <a:t>2</a:t>
            </a:fld>
            <a:endParaRPr lang="en-US"/>
          </a:p>
        </p:txBody>
      </p:sp>
      <p:pic>
        <p:nvPicPr>
          <p:cNvPr id="6" name="Content Placeholder 4" descr="Young mother rocking baby">
            <a:extLst>
              <a:ext uri="{FF2B5EF4-FFF2-40B4-BE49-F238E27FC236}">
                <a16:creationId xmlns:a16="http://schemas.microsoft.com/office/drawing/2014/main" id="{6517B3A1-7C7F-AB63-B59D-FB9BAF1CADB6}"/>
              </a:ext>
            </a:extLst>
          </p:cNvPr>
          <p:cNvPicPr>
            <a:picLocks noChangeAspect="1"/>
          </p:cNvPicPr>
          <p:nvPr/>
        </p:nvPicPr>
        <p:blipFill>
          <a:blip r:embed="rId3"/>
          <a:srcRect l="10210" r="44458" b="-1"/>
          <a:stretch>
            <a:fillRect/>
          </a:stretch>
        </p:blipFill>
        <p:spPr>
          <a:xfrm>
            <a:off x="0" y="10"/>
            <a:ext cx="4657681"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5902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6333A-F73A-0D4C-D299-CE68CFEF6ECD}"/>
              </a:ext>
            </a:extLst>
          </p:cNvPr>
          <p:cNvSpPr>
            <a:spLocks noGrp="1"/>
          </p:cNvSpPr>
          <p:nvPr>
            <p:ph type="title"/>
          </p:nvPr>
        </p:nvSpPr>
        <p:spPr>
          <a:xfrm>
            <a:off x="-10559" y="1"/>
            <a:ext cx="4953491" cy="1583472"/>
          </a:xfrm>
        </p:spPr>
        <p:txBody>
          <a:bodyPr anchor="ctr">
            <a:normAutofit/>
          </a:bodyPr>
          <a:lstStyle/>
          <a:p>
            <a:r>
              <a:rPr lang="en-US"/>
              <a:t>Data sources &amp; approach</a:t>
            </a:r>
          </a:p>
        </p:txBody>
      </p:sp>
      <p:pic>
        <p:nvPicPr>
          <p:cNvPr id="15" name="Picture Placeholder 14">
            <a:extLst>
              <a:ext uri="{FF2B5EF4-FFF2-40B4-BE49-F238E27FC236}">
                <a16:creationId xmlns:a16="http://schemas.microsoft.com/office/drawing/2014/main" id="{19833F62-7EB0-0A76-8E21-A21B654D0A83}"/>
              </a:ext>
            </a:extLst>
          </p:cNvPr>
          <p:cNvPicPr>
            <a:picLocks noGrp="1" noChangeAspect="1"/>
          </p:cNvPicPr>
          <p:nvPr>
            <p:ph type="pic" sz="quarter" idx="10"/>
          </p:nvPr>
        </p:nvPicPr>
        <p:blipFill>
          <a:blip r:embed="rId2"/>
          <a:srcRect t="30894" b="30894"/>
          <a:stretch/>
        </p:blipFill>
        <p:spPr>
          <a:xfrm>
            <a:off x="4943475" y="0"/>
            <a:ext cx="7248525" cy="1582738"/>
          </a:xfrm>
        </p:spPr>
      </p:pic>
      <p:sp>
        <p:nvSpPr>
          <p:cNvPr id="3" name="Slide Number Placeholder 2">
            <a:extLst>
              <a:ext uri="{FF2B5EF4-FFF2-40B4-BE49-F238E27FC236}">
                <a16:creationId xmlns:a16="http://schemas.microsoft.com/office/drawing/2014/main" id="{D5D9092A-92F9-2B75-FC44-3FE472468FFF}"/>
              </a:ext>
            </a:extLst>
          </p:cNvPr>
          <p:cNvSpPr>
            <a:spLocks noGrp="1"/>
          </p:cNvSpPr>
          <p:nvPr>
            <p:ph type="sldNum" sz="quarter" idx="4"/>
          </p:nvPr>
        </p:nvSpPr>
        <p:spPr>
          <a:xfrm>
            <a:off x="8610600" y="6356350"/>
            <a:ext cx="2743200" cy="365125"/>
          </a:xfrm>
        </p:spPr>
        <p:txBody>
          <a:bodyPr anchor="ctr">
            <a:normAutofit/>
          </a:bodyPr>
          <a:lstStyle/>
          <a:p>
            <a:pPr>
              <a:spcAft>
                <a:spcPts val="600"/>
              </a:spcAft>
            </a:pPr>
            <a:fld id="{EA87306C-81BA-4795-A5CA-9392456A8C1E}" type="slidenum">
              <a:rPr lang="en-US" smtClean="0"/>
              <a:pPr>
                <a:spcAft>
                  <a:spcPts val="600"/>
                </a:spcAft>
              </a:pPr>
              <a:t>3</a:t>
            </a:fld>
            <a:endParaRPr lang="en-US"/>
          </a:p>
        </p:txBody>
      </p:sp>
      <p:graphicFrame>
        <p:nvGraphicFramePr>
          <p:cNvPr id="7" name="Table 6">
            <a:extLst>
              <a:ext uri="{FF2B5EF4-FFF2-40B4-BE49-F238E27FC236}">
                <a16:creationId xmlns:a16="http://schemas.microsoft.com/office/drawing/2014/main" id="{7FC258F4-4EDF-71CC-5076-469EC37D9CD8}"/>
              </a:ext>
            </a:extLst>
          </p:cNvPr>
          <p:cNvGraphicFramePr>
            <a:graphicFrameLocks noGrp="1"/>
          </p:cNvGraphicFramePr>
          <p:nvPr>
            <p:extLst>
              <p:ext uri="{D42A27DB-BD31-4B8C-83A1-F6EECF244321}">
                <p14:modId xmlns:p14="http://schemas.microsoft.com/office/powerpoint/2010/main" val="1474119033"/>
              </p:ext>
            </p:extLst>
          </p:nvPr>
        </p:nvGraphicFramePr>
        <p:xfrm>
          <a:off x="1155032" y="2330600"/>
          <a:ext cx="9371201" cy="3300799"/>
        </p:xfrm>
        <a:graphic>
          <a:graphicData uri="http://schemas.openxmlformats.org/drawingml/2006/table">
            <a:tbl>
              <a:tblPr firstRow="1" bandRow="1">
                <a:tableStyleId>{616DA210-FB5B-4158-B5E0-FEB733F419BA}</a:tableStyleId>
              </a:tblPr>
              <a:tblGrid>
                <a:gridCol w="9371201">
                  <a:extLst>
                    <a:ext uri="{9D8B030D-6E8A-4147-A177-3AD203B41FA5}">
                      <a16:colId xmlns:a16="http://schemas.microsoft.com/office/drawing/2014/main" val="2861157804"/>
                    </a:ext>
                  </a:extLst>
                </a:gridCol>
              </a:tblGrid>
              <a:tr h="1064043">
                <a:tc>
                  <a:txBody>
                    <a:bodyPr/>
                    <a:lstStyle/>
                    <a:p>
                      <a:endParaRPr lang="en-US" sz="1800" b="1" i="0" kern="1200">
                        <a:solidFill>
                          <a:schemeClr val="tx1"/>
                        </a:solidFill>
                        <a:effectLst/>
                        <a:latin typeface="+mn-lt"/>
                        <a:ea typeface="+mn-ea"/>
                        <a:cs typeface="+mn-cs"/>
                      </a:endParaRPr>
                    </a:p>
                    <a:p>
                      <a:r>
                        <a:rPr lang="en-US" sz="1800" b="1" i="0" kern="1200">
                          <a:solidFill>
                            <a:schemeClr val="tx1"/>
                          </a:solidFill>
                          <a:effectLst/>
                          <a:latin typeface="+mn-lt"/>
                          <a:ea typeface="+mn-ea"/>
                          <a:cs typeface="+mn-cs"/>
                        </a:rPr>
                        <a:t>Dataset 1 - Celiac Disease Lab Data</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2206 patients, 15 variables (Age, IgA, IgG, IgM, Disease Type)</a:t>
                      </a:r>
                    </a:p>
                  </a:txBody>
                  <a:tcPr marL="82058" marR="82058" marT="41029" marB="41029"/>
                </a:tc>
                <a:extLst>
                  <a:ext uri="{0D108BD9-81ED-4DB2-BD59-A6C34878D82A}">
                    <a16:rowId xmlns:a16="http://schemas.microsoft.com/office/drawing/2014/main" val="3005994373"/>
                  </a:ext>
                </a:extLst>
              </a:tr>
              <a:tr h="816359">
                <a:tc>
                  <a:txBody>
                    <a:bodyPr/>
                    <a:lstStyle/>
                    <a:p>
                      <a:endParaRPr lang="en-US" sz="1600" b="0" i="0" u="none" strike="noStrike" kern="1200" baseline="0">
                        <a:solidFill>
                          <a:schemeClr val="tx1"/>
                        </a:solidFill>
                        <a:latin typeface="+mn-lt"/>
                        <a:ea typeface="+mn-ea"/>
                        <a:cs typeface="+mn-cs"/>
                      </a:endParaRPr>
                    </a:p>
                    <a:p>
                      <a:r>
                        <a:rPr lang="en-US" sz="1800" b="1" i="0" kern="1200">
                          <a:solidFill>
                            <a:schemeClr val="tx1"/>
                          </a:solidFill>
                          <a:effectLst/>
                          <a:latin typeface="+mn-lt"/>
                          <a:ea typeface="+mn-ea"/>
                          <a:cs typeface="+mn-cs"/>
                        </a:rPr>
                        <a:t>Dataset 2 - Infant Feeding &amp; Growth</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720 infant records, 5 variables (Weight, Height, Month, Feeding Method)</a:t>
                      </a:r>
                    </a:p>
                    <a:p>
                      <a:endParaRPr lang="en-US" sz="1600"/>
                    </a:p>
                  </a:txBody>
                  <a:tcPr marL="82058" marR="82058" marT="41029" marB="41029"/>
                </a:tc>
                <a:extLst>
                  <a:ext uri="{0D108BD9-81ED-4DB2-BD59-A6C34878D82A}">
                    <a16:rowId xmlns:a16="http://schemas.microsoft.com/office/drawing/2014/main" val="385667651"/>
                  </a:ext>
                </a:extLst>
              </a:tr>
              <a:tr h="885913">
                <a:tc>
                  <a:txBody>
                    <a:bodyPr/>
                    <a:lstStyle/>
                    <a:p>
                      <a:endParaRPr lang="en-US" sz="1600" b="0" i="0" u="none" strike="noStrike" kern="1200" baseline="0">
                        <a:solidFill>
                          <a:schemeClr val="tx1"/>
                        </a:solidFill>
                        <a:latin typeface="+mn-lt"/>
                        <a:ea typeface="+mn-ea"/>
                        <a:cs typeface="+mn-cs"/>
                      </a:endParaRPr>
                    </a:p>
                    <a:p>
                      <a:r>
                        <a:rPr lang="en-US" sz="1800" b="1" i="0" kern="1200">
                          <a:solidFill>
                            <a:schemeClr val="tx1"/>
                          </a:solidFill>
                          <a:effectLst/>
                          <a:latin typeface="+mn-lt"/>
                          <a:ea typeface="+mn-ea"/>
                          <a:cs typeface="+mn-cs"/>
                        </a:rPr>
                        <a:t>Dataset 3 - Monkeypox Research</a:t>
                      </a:r>
                      <a:br>
                        <a:rPr lang="en-US" sz="1800" b="0" i="0" kern="1200">
                          <a:solidFill>
                            <a:schemeClr val="tx1"/>
                          </a:solidFill>
                          <a:effectLst/>
                          <a:latin typeface="+mn-lt"/>
                          <a:ea typeface="+mn-ea"/>
                          <a:cs typeface="+mn-cs"/>
                        </a:rPr>
                      </a:br>
                      <a:r>
                        <a:rPr lang="en-US" sz="1800" b="0" i="0" kern="1200">
                          <a:solidFill>
                            <a:schemeClr val="tx1"/>
                          </a:solidFill>
                          <a:effectLst/>
                          <a:latin typeface="+mn-lt"/>
                          <a:ea typeface="+mn-ea"/>
                          <a:cs typeface="+mn-cs"/>
                        </a:rPr>
                        <a:t>71 research projects, 10 variables (Topic, Status, Country, Completion)</a:t>
                      </a:r>
                    </a:p>
                    <a:p>
                      <a:endParaRPr lang="en-US" sz="1600"/>
                    </a:p>
                  </a:txBody>
                  <a:tcPr marL="82058" marR="82058" marT="41029" marB="41029"/>
                </a:tc>
                <a:extLst>
                  <a:ext uri="{0D108BD9-81ED-4DB2-BD59-A6C34878D82A}">
                    <a16:rowId xmlns:a16="http://schemas.microsoft.com/office/drawing/2014/main" val="3651100334"/>
                  </a:ext>
                </a:extLst>
              </a:tr>
            </a:tbl>
          </a:graphicData>
        </a:graphic>
      </p:graphicFrame>
    </p:spTree>
    <p:extLst>
      <p:ext uri="{BB962C8B-B14F-4D97-AF65-F5344CB8AC3E}">
        <p14:creationId xmlns:p14="http://schemas.microsoft.com/office/powerpoint/2010/main" val="299032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6EA623-FC3F-8EBD-1C1B-072A21C29610}"/>
              </a:ext>
            </a:extLst>
          </p:cNvPr>
          <p:cNvSpPr>
            <a:spLocks noGrp="1"/>
          </p:cNvSpPr>
          <p:nvPr>
            <p:ph type="title"/>
          </p:nvPr>
        </p:nvSpPr>
        <p:spPr>
          <a:xfrm>
            <a:off x="838200" y="226143"/>
            <a:ext cx="10515600" cy="1229033"/>
          </a:xfrm>
        </p:spPr>
        <p:txBody>
          <a:bodyPr/>
          <a:lstStyle/>
          <a:p>
            <a:r>
              <a:rPr lang="en-US" b="1"/>
              <a:t>Data Processing &amp; Methods</a:t>
            </a:r>
          </a:p>
        </p:txBody>
      </p:sp>
      <p:sp>
        <p:nvSpPr>
          <p:cNvPr id="7" name="Content Placeholder 6">
            <a:extLst>
              <a:ext uri="{FF2B5EF4-FFF2-40B4-BE49-F238E27FC236}">
                <a16:creationId xmlns:a16="http://schemas.microsoft.com/office/drawing/2014/main" id="{84BA4F5C-B74F-2580-2C17-9931DAB91933}"/>
              </a:ext>
            </a:extLst>
          </p:cNvPr>
          <p:cNvSpPr>
            <a:spLocks noGrp="1"/>
          </p:cNvSpPr>
          <p:nvPr>
            <p:ph sz="quarter" idx="10"/>
          </p:nvPr>
        </p:nvSpPr>
        <p:spPr>
          <a:xfrm>
            <a:off x="849775" y="2858626"/>
            <a:ext cx="10515600" cy="3265728"/>
          </a:xfrm>
        </p:spPr>
        <p:txBody>
          <a:bodyPr/>
          <a:lstStyle/>
          <a:p>
            <a:r>
              <a:rPr lang="en-US" sz="1900" b="1"/>
              <a:t>Data Integration:</a:t>
            </a:r>
            <a:r>
              <a:rPr lang="en-US" sz="1900"/>
              <a:t> </a:t>
            </a:r>
            <a:r>
              <a:rPr lang="en-US"/>
              <a:t>Merged three datasets from API and Kaggle sources using pandas</a:t>
            </a:r>
          </a:p>
          <a:p>
            <a:r>
              <a:rPr lang="en-US" sz="1900" b="1"/>
              <a:t>Cleaning:</a:t>
            </a:r>
            <a:r>
              <a:rPr lang="en-US" sz="1900"/>
              <a:t> </a:t>
            </a:r>
            <a:r>
              <a:rPr lang="en-US"/>
              <a:t>Handled missing values, normalized demographic variables</a:t>
            </a:r>
          </a:p>
          <a:p>
            <a:r>
              <a:rPr lang="en-US" sz="1900" b="1"/>
              <a:t>Analysis Techniques:</a:t>
            </a:r>
            <a:r>
              <a:rPr lang="en-US" sz="1900"/>
              <a:t> </a:t>
            </a:r>
            <a:r>
              <a:rPr lang="en-US"/>
              <a:t>Correlation coefficients, heatmaps, and demographic breakdowns</a:t>
            </a:r>
          </a:p>
          <a:p>
            <a:r>
              <a:rPr lang="en-US" sz="1900" b="1"/>
              <a:t>Visualization:</a:t>
            </a:r>
            <a:r>
              <a:rPr lang="en-US" sz="1900"/>
              <a:t> </a:t>
            </a:r>
            <a:r>
              <a:rPr lang="en-US"/>
              <a:t>Seaborn for statistical plots and data relationships</a:t>
            </a:r>
          </a:p>
        </p:txBody>
      </p:sp>
      <p:sp>
        <p:nvSpPr>
          <p:cNvPr id="2" name="Slide Number Placeholder 1">
            <a:extLst>
              <a:ext uri="{FF2B5EF4-FFF2-40B4-BE49-F238E27FC236}">
                <a16:creationId xmlns:a16="http://schemas.microsoft.com/office/drawing/2014/main" id="{5B347400-F1A2-FAFC-8A83-9280B6C44D15}"/>
              </a:ext>
            </a:extLst>
          </p:cNvPr>
          <p:cNvSpPr>
            <a:spLocks noGrp="1"/>
          </p:cNvSpPr>
          <p:nvPr>
            <p:ph type="sldNum" sz="quarter" idx="4"/>
          </p:nvPr>
        </p:nvSpPr>
        <p:spPr/>
        <p:txBody>
          <a:bodyPr/>
          <a:lstStyle/>
          <a:p>
            <a:fld id="{EA87306C-81BA-4795-A5CA-9392456A8C1E}" type="slidenum">
              <a:rPr lang="en-US" smtClean="0"/>
              <a:pPr/>
              <a:t>4</a:t>
            </a:fld>
            <a:endParaRPr lang="en-US"/>
          </a:p>
        </p:txBody>
      </p:sp>
    </p:spTree>
    <p:extLst>
      <p:ext uri="{BB962C8B-B14F-4D97-AF65-F5344CB8AC3E}">
        <p14:creationId xmlns:p14="http://schemas.microsoft.com/office/powerpoint/2010/main" val="329951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D32A-A2D7-D0F0-B90F-608E69EDD5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93FACE-FD6A-012D-752B-F9B46A7A8809}"/>
              </a:ext>
            </a:extLst>
          </p:cNvPr>
          <p:cNvSpPr>
            <a:spLocks noGrp="1"/>
          </p:cNvSpPr>
          <p:nvPr>
            <p:ph type="title"/>
          </p:nvPr>
        </p:nvSpPr>
        <p:spPr>
          <a:xfrm>
            <a:off x="0" y="0"/>
            <a:ext cx="12192000" cy="1402201"/>
          </a:xfrm>
        </p:spPr>
        <p:txBody>
          <a:bodyPr/>
          <a:lstStyle/>
          <a:p>
            <a:r>
              <a:rPr lang="en-US" b="1"/>
              <a:t>Celiac Disease: Age Distribution</a:t>
            </a:r>
          </a:p>
        </p:txBody>
      </p:sp>
      <p:sp>
        <p:nvSpPr>
          <p:cNvPr id="2" name="Slide Number Placeholder 1">
            <a:extLst>
              <a:ext uri="{FF2B5EF4-FFF2-40B4-BE49-F238E27FC236}">
                <a16:creationId xmlns:a16="http://schemas.microsoft.com/office/drawing/2014/main" id="{FE52090D-300F-DDCC-31F4-514445FBC85A}"/>
              </a:ext>
            </a:extLst>
          </p:cNvPr>
          <p:cNvSpPr>
            <a:spLocks noGrp="1"/>
          </p:cNvSpPr>
          <p:nvPr>
            <p:ph type="sldNum" sz="quarter" idx="4"/>
          </p:nvPr>
        </p:nvSpPr>
        <p:spPr/>
        <p:txBody>
          <a:bodyPr/>
          <a:lstStyle/>
          <a:p>
            <a:fld id="{EA87306C-81BA-4795-A5CA-9392456A8C1E}" type="slidenum">
              <a:rPr lang="en-US" smtClean="0"/>
              <a:pPr/>
              <a:t>5</a:t>
            </a:fld>
            <a:endParaRPr lang="en-US"/>
          </a:p>
        </p:txBody>
      </p:sp>
      <p:pic>
        <p:nvPicPr>
          <p:cNvPr id="13" name="Picture 12">
            <a:extLst>
              <a:ext uri="{FF2B5EF4-FFF2-40B4-BE49-F238E27FC236}">
                <a16:creationId xmlns:a16="http://schemas.microsoft.com/office/drawing/2014/main" id="{BF842187-3756-103C-4339-92CC6C6880A3}"/>
              </a:ext>
            </a:extLst>
          </p:cNvPr>
          <p:cNvPicPr>
            <a:picLocks noChangeAspect="1"/>
          </p:cNvPicPr>
          <p:nvPr/>
        </p:nvPicPr>
        <p:blipFill>
          <a:blip r:embed="rId2"/>
          <a:srcRect/>
          <a:stretch/>
        </p:blipFill>
        <p:spPr>
          <a:xfrm>
            <a:off x="6462556" y="1587640"/>
            <a:ext cx="4868250" cy="4015709"/>
          </a:xfrm>
          <a:prstGeom prst="rect">
            <a:avLst/>
          </a:prstGeom>
        </p:spPr>
      </p:pic>
      <p:sp>
        <p:nvSpPr>
          <p:cNvPr id="4" name="TextBox 3">
            <a:extLst>
              <a:ext uri="{FF2B5EF4-FFF2-40B4-BE49-F238E27FC236}">
                <a16:creationId xmlns:a16="http://schemas.microsoft.com/office/drawing/2014/main" id="{8F81415F-AAE8-CDBE-3197-F835C065AF02}"/>
              </a:ext>
            </a:extLst>
          </p:cNvPr>
          <p:cNvSpPr txBox="1"/>
          <p:nvPr/>
        </p:nvSpPr>
        <p:spPr>
          <a:xfrm>
            <a:off x="472273" y="2155680"/>
            <a:ext cx="5024175" cy="3139321"/>
          </a:xfrm>
          <a:prstGeom prst="rect">
            <a:avLst/>
          </a:prstGeom>
          <a:noFill/>
        </p:spPr>
        <p:txBody>
          <a:bodyPr wrap="square" rtlCol="0">
            <a:spAutoFit/>
          </a:bodyPr>
          <a:lstStyle/>
          <a:p>
            <a:r>
              <a:rPr lang="en-US" dirty="0"/>
              <a:t>Celiac disease diagnosis most common in elementary school age children around 9–11 years old. This means doctors should pay special attention to this age group.</a:t>
            </a:r>
          </a:p>
          <a:p>
            <a:r>
              <a:rPr lang="en-US" dirty="0"/>
              <a:t>The immune blood tests (IgA, IgG, IgM) do not change much with age, so high levels can signal celiac disease in both younger and older kids.</a:t>
            </a:r>
          </a:p>
          <a:p>
            <a:endParaRPr lang="en-US" b="1" dirty="0"/>
          </a:p>
          <a:p>
            <a:r>
              <a:rPr lang="en-US" b="1" dirty="0"/>
              <a:t>Peak Age Range:</a:t>
            </a:r>
            <a:r>
              <a:rPr lang="en-US" dirty="0"/>
              <a:t> 9-11 years (~700 patients)</a:t>
            </a:r>
          </a:p>
          <a:p>
            <a:r>
              <a:rPr lang="en-US" b="1" dirty="0"/>
              <a:t>Secondary Peak:</a:t>
            </a:r>
            <a:r>
              <a:rPr lang="en-US" dirty="0"/>
              <a:t> 6-8 years (~350 patients)</a:t>
            </a:r>
          </a:p>
          <a:p>
            <a:r>
              <a:rPr lang="en-US" b="1" dirty="0"/>
              <a:t>Median Age:</a:t>
            </a:r>
            <a:r>
              <a:rPr lang="en-US" dirty="0"/>
              <a:t> ~10 years</a:t>
            </a:r>
          </a:p>
        </p:txBody>
      </p:sp>
    </p:spTree>
    <p:extLst>
      <p:ext uri="{BB962C8B-B14F-4D97-AF65-F5344CB8AC3E}">
        <p14:creationId xmlns:p14="http://schemas.microsoft.com/office/powerpoint/2010/main" val="1429378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82336-2973-D5FA-2FBF-7B9AA0E56191}"/>
              </a:ext>
            </a:extLst>
          </p:cNvPr>
          <p:cNvSpPr>
            <a:spLocks noGrp="1"/>
          </p:cNvSpPr>
          <p:nvPr>
            <p:ph type="title"/>
          </p:nvPr>
        </p:nvSpPr>
        <p:spPr>
          <a:xfrm>
            <a:off x="0" y="0"/>
            <a:ext cx="12192000" cy="1402201"/>
          </a:xfrm>
        </p:spPr>
        <p:txBody>
          <a:bodyPr/>
          <a:lstStyle/>
          <a:p>
            <a:r>
              <a:rPr lang="en-US" b="1"/>
              <a:t>Age &amp; Immunoglobulins Correlation</a:t>
            </a:r>
          </a:p>
        </p:txBody>
      </p:sp>
      <p:sp>
        <p:nvSpPr>
          <p:cNvPr id="2" name="Slide Number Placeholder 1">
            <a:extLst>
              <a:ext uri="{FF2B5EF4-FFF2-40B4-BE49-F238E27FC236}">
                <a16:creationId xmlns:a16="http://schemas.microsoft.com/office/drawing/2014/main" id="{98B4D8E8-D0EF-11C8-495B-3876957CDB28}"/>
              </a:ext>
            </a:extLst>
          </p:cNvPr>
          <p:cNvSpPr>
            <a:spLocks noGrp="1"/>
          </p:cNvSpPr>
          <p:nvPr>
            <p:ph type="sldNum" sz="quarter" idx="4"/>
          </p:nvPr>
        </p:nvSpPr>
        <p:spPr/>
        <p:txBody>
          <a:bodyPr/>
          <a:lstStyle/>
          <a:p>
            <a:fld id="{EA87306C-81BA-4795-A5CA-9392456A8C1E}" type="slidenum">
              <a:rPr lang="en-US" smtClean="0"/>
              <a:pPr/>
              <a:t>6</a:t>
            </a:fld>
            <a:endParaRPr lang="en-US"/>
          </a:p>
        </p:txBody>
      </p:sp>
      <p:pic>
        <p:nvPicPr>
          <p:cNvPr id="13" name="Picture 12">
            <a:extLst>
              <a:ext uri="{FF2B5EF4-FFF2-40B4-BE49-F238E27FC236}">
                <a16:creationId xmlns:a16="http://schemas.microsoft.com/office/drawing/2014/main" id="{3B54BF30-47C1-B2D0-46B6-3BF5F4E09A77}"/>
              </a:ext>
            </a:extLst>
          </p:cNvPr>
          <p:cNvPicPr>
            <a:picLocks noChangeAspect="1"/>
          </p:cNvPicPr>
          <p:nvPr/>
        </p:nvPicPr>
        <p:blipFill>
          <a:blip r:embed="rId2"/>
          <a:srcRect/>
          <a:stretch/>
        </p:blipFill>
        <p:spPr>
          <a:xfrm>
            <a:off x="6840369" y="1840276"/>
            <a:ext cx="5024395" cy="4189777"/>
          </a:xfrm>
          <a:prstGeom prst="rect">
            <a:avLst/>
          </a:prstGeom>
        </p:spPr>
      </p:pic>
      <p:sp>
        <p:nvSpPr>
          <p:cNvPr id="14" name="TextBox 13">
            <a:extLst>
              <a:ext uri="{FF2B5EF4-FFF2-40B4-BE49-F238E27FC236}">
                <a16:creationId xmlns:a16="http://schemas.microsoft.com/office/drawing/2014/main" id="{24BD874C-C719-13DC-1742-04A1CF06FF43}"/>
              </a:ext>
            </a:extLst>
          </p:cNvPr>
          <p:cNvSpPr txBox="1"/>
          <p:nvPr/>
        </p:nvSpPr>
        <p:spPr>
          <a:xfrm>
            <a:off x="446569" y="1690576"/>
            <a:ext cx="6188148" cy="4247317"/>
          </a:xfrm>
          <a:prstGeom prst="rect">
            <a:avLst/>
          </a:prstGeom>
          <a:noFill/>
        </p:spPr>
        <p:txBody>
          <a:bodyPr wrap="square" rtlCol="0">
            <a:spAutoFit/>
          </a:bodyPr>
          <a:lstStyle/>
          <a:p>
            <a:r>
              <a:rPr lang="en-US" dirty="0"/>
              <a:t>Heatmap shows weak to moderate correlations between age and immune markers. Immunoglobulin patterns are largely independent of age.</a:t>
            </a:r>
          </a:p>
          <a:p>
            <a:endParaRPr lang="en-US" dirty="0"/>
          </a:p>
          <a:p>
            <a:r>
              <a:rPr lang="en-US" b="1" dirty="0"/>
              <a:t>Age-IgA:</a:t>
            </a:r>
            <a:r>
              <a:rPr lang="en-US" dirty="0"/>
              <a:t> No linear correlation (r ≈ 0.005)</a:t>
            </a:r>
          </a:p>
          <a:p>
            <a:r>
              <a:rPr lang="en-US" b="1" dirty="0"/>
              <a:t>Age-IgG:</a:t>
            </a:r>
            <a:r>
              <a:rPr lang="en-US" dirty="0"/>
              <a:t> Weak positive correlation (r ≈ 0.16)</a:t>
            </a:r>
          </a:p>
          <a:p>
            <a:r>
              <a:rPr lang="en-US" b="1" dirty="0"/>
              <a:t>Age-IgM:</a:t>
            </a:r>
            <a:r>
              <a:rPr lang="en-US" dirty="0"/>
              <a:t> Near-zero correlation (r ≈ 0.02)</a:t>
            </a:r>
          </a:p>
          <a:p>
            <a:endParaRPr lang="en-US" b="1" dirty="0"/>
          </a:p>
          <a:p>
            <a:r>
              <a:rPr lang="en-US" b="1" dirty="0"/>
              <a:t>Description:</a:t>
            </a:r>
          </a:p>
          <a:p>
            <a:r>
              <a:rPr lang="en-US" b="1" dirty="0"/>
              <a:t>IgA</a:t>
            </a:r>
            <a:r>
              <a:rPr lang="en-US" dirty="0"/>
              <a:t>: Antibody that protects body surfaces like the gut, lungs, saliva, and tears.​</a:t>
            </a:r>
          </a:p>
          <a:p>
            <a:r>
              <a:rPr lang="en-US" b="1" dirty="0"/>
              <a:t>IgG</a:t>
            </a:r>
            <a:r>
              <a:rPr lang="en-US" dirty="0"/>
              <a:t>: Main antibody in the blood that gives long‑term protection against infections.​</a:t>
            </a:r>
          </a:p>
          <a:p>
            <a:r>
              <a:rPr lang="en-US" b="1" dirty="0"/>
              <a:t>IgM</a:t>
            </a:r>
            <a:r>
              <a:rPr lang="en-US" dirty="0"/>
              <a:t>: First antibody your body makes when a new infection starts.</a:t>
            </a:r>
          </a:p>
        </p:txBody>
      </p:sp>
    </p:spTree>
    <p:extLst>
      <p:ext uri="{BB962C8B-B14F-4D97-AF65-F5344CB8AC3E}">
        <p14:creationId xmlns:p14="http://schemas.microsoft.com/office/powerpoint/2010/main" val="1884517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E283C-CA09-7A59-65AE-ABA8E4FF39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CE6D2A-9B2B-F4E0-0F11-2443BCA2DC7F}"/>
              </a:ext>
            </a:extLst>
          </p:cNvPr>
          <p:cNvSpPr>
            <a:spLocks noGrp="1"/>
          </p:cNvSpPr>
          <p:nvPr>
            <p:ph type="title"/>
          </p:nvPr>
        </p:nvSpPr>
        <p:spPr>
          <a:xfrm>
            <a:off x="0" y="0"/>
            <a:ext cx="12192000" cy="1402201"/>
          </a:xfrm>
        </p:spPr>
        <p:txBody>
          <a:bodyPr/>
          <a:lstStyle/>
          <a:p>
            <a:r>
              <a:rPr lang="en-US" b="1"/>
              <a:t>IgA Levels by Celiac Type</a:t>
            </a:r>
          </a:p>
        </p:txBody>
      </p:sp>
      <p:sp>
        <p:nvSpPr>
          <p:cNvPr id="2" name="Slide Number Placeholder 1">
            <a:extLst>
              <a:ext uri="{FF2B5EF4-FFF2-40B4-BE49-F238E27FC236}">
                <a16:creationId xmlns:a16="http://schemas.microsoft.com/office/drawing/2014/main" id="{335D5F35-B32B-F7A5-EAEA-B178F20A71B8}"/>
              </a:ext>
            </a:extLst>
          </p:cNvPr>
          <p:cNvSpPr>
            <a:spLocks noGrp="1"/>
          </p:cNvSpPr>
          <p:nvPr>
            <p:ph type="sldNum" sz="quarter" idx="4"/>
          </p:nvPr>
        </p:nvSpPr>
        <p:spPr/>
        <p:txBody>
          <a:bodyPr/>
          <a:lstStyle/>
          <a:p>
            <a:fld id="{EA87306C-81BA-4795-A5CA-9392456A8C1E}" type="slidenum">
              <a:rPr lang="en-US" smtClean="0"/>
              <a:pPr/>
              <a:t>7</a:t>
            </a:fld>
            <a:endParaRPr lang="en-US"/>
          </a:p>
        </p:txBody>
      </p:sp>
      <p:pic>
        <p:nvPicPr>
          <p:cNvPr id="13" name="Picture 12">
            <a:extLst>
              <a:ext uri="{FF2B5EF4-FFF2-40B4-BE49-F238E27FC236}">
                <a16:creationId xmlns:a16="http://schemas.microsoft.com/office/drawing/2014/main" id="{3F317CCE-7F7A-A3BA-3459-38555E2D5D49}"/>
              </a:ext>
            </a:extLst>
          </p:cNvPr>
          <p:cNvPicPr>
            <a:picLocks noChangeAspect="1"/>
          </p:cNvPicPr>
          <p:nvPr/>
        </p:nvPicPr>
        <p:blipFill>
          <a:blip r:embed="rId2"/>
          <a:srcRect/>
          <a:stretch/>
        </p:blipFill>
        <p:spPr>
          <a:xfrm>
            <a:off x="6263246" y="1656971"/>
            <a:ext cx="5297167" cy="3490720"/>
          </a:xfrm>
          <a:prstGeom prst="rect">
            <a:avLst/>
          </a:prstGeom>
        </p:spPr>
      </p:pic>
      <p:sp>
        <p:nvSpPr>
          <p:cNvPr id="4" name="TextBox 3">
            <a:extLst>
              <a:ext uri="{FF2B5EF4-FFF2-40B4-BE49-F238E27FC236}">
                <a16:creationId xmlns:a16="http://schemas.microsoft.com/office/drawing/2014/main" id="{678A02D4-1034-5CF1-2366-4CF1E984FB79}"/>
              </a:ext>
            </a:extLst>
          </p:cNvPr>
          <p:cNvSpPr txBox="1"/>
          <p:nvPr/>
        </p:nvSpPr>
        <p:spPr>
          <a:xfrm>
            <a:off x="457200" y="2013745"/>
            <a:ext cx="5326912" cy="3139321"/>
          </a:xfrm>
          <a:prstGeom prst="rect">
            <a:avLst/>
          </a:prstGeom>
          <a:noFill/>
        </p:spPr>
        <p:txBody>
          <a:bodyPr wrap="square" rtlCol="0">
            <a:spAutoFit/>
          </a:bodyPr>
          <a:lstStyle/>
          <a:p>
            <a:r>
              <a:rPr lang="en-US" dirty="0"/>
              <a:t>IgA levels vary significantly by celiac disease classification. Because each celiac type shows a different IgA pattern, doctors can use the IgA value as a clue to which kind of celiac disease the patient probably has. </a:t>
            </a:r>
          </a:p>
          <a:p>
            <a:endParaRPr lang="en-US" dirty="0"/>
          </a:p>
          <a:p>
            <a:endParaRPr lang="en-US" dirty="0"/>
          </a:p>
          <a:p>
            <a:r>
              <a:rPr lang="en-US" b="1" dirty="0"/>
              <a:t>Potential:</a:t>
            </a:r>
            <a:r>
              <a:rPr lang="en-US" dirty="0"/>
              <a:t> Median IgA ≈ 1.66 U/mL (highest)</a:t>
            </a:r>
          </a:p>
          <a:p>
            <a:r>
              <a:rPr lang="en-US" b="1" dirty="0"/>
              <a:t>Atypical:</a:t>
            </a:r>
            <a:r>
              <a:rPr lang="en-US" dirty="0"/>
              <a:t> Median IgA ≈ 1.10 U/mL (intermediate)</a:t>
            </a:r>
          </a:p>
          <a:p>
            <a:r>
              <a:rPr lang="en-US" b="1" dirty="0"/>
              <a:t>Typical:</a:t>
            </a:r>
            <a:r>
              <a:rPr lang="en-US" dirty="0"/>
              <a:t> Median IgA ≈ 1.00 U/mL (lowest)</a:t>
            </a:r>
          </a:p>
          <a:p>
            <a:endParaRPr lang="en-US" dirty="0"/>
          </a:p>
        </p:txBody>
      </p:sp>
    </p:spTree>
    <p:extLst>
      <p:ext uri="{BB962C8B-B14F-4D97-AF65-F5344CB8AC3E}">
        <p14:creationId xmlns:p14="http://schemas.microsoft.com/office/powerpoint/2010/main" val="174095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87A09-1E95-9280-E814-22F6D00B72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A90C0B-6596-CE02-AE79-9DF5D467A29A}"/>
              </a:ext>
            </a:extLst>
          </p:cNvPr>
          <p:cNvSpPr>
            <a:spLocks noGrp="1"/>
          </p:cNvSpPr>
          <p:nvPr>
            <p:ph type="title"/>
          </p:nvPr>
        </p:nvSpPr>
        <p:spPr>
          <a:xfrm>
            <a:off x="0" y="0"/>
            <a:ext cx="12192000" cy="1402201"/>
          </a:xfrm>
        </p:spPr>
        <p:txBody>
          <a:bodyPr/>
          <a:lstStyle/>
          <a:p>
            <a:r>
              <a:rPr lang="en-US" b="1"/>
              <a:t>Infant Feeding Method Distribution</a:t>
            </a:r>
          </a:p>
        </p:txBody>
      </p:sp>
      <p:sp>
        <p:nvSpPr>
          <p:cNvPr id="2" name="Slide Number Placeholder 1">
            <a:extLst>
              <a:ext uri="{FF2B5EF4-FFF2-40B4-BE49-F238E27FC236}">
                <a16:creationId xmlns:a16="http://schemas.microsoft.com/office/drawing/2014/main" id="{66BCE407-230F-A49E-D7D8-6D0F5C0D8C8F}"/>
              </a:ext>
            </a:extLst>
          </p:cNvPr>
          <p:cNvSpPr>
            <a:spLocks noGrp="1"/>
          </p:cNvSpPr>
          <p:nvPr>
            <p:ph type="sldNum" sz="quarter" idx="4"/>
          </p:nvPr>
        </p:nvSpPr>
        <p:spPr/>
        <p:txBody>
          <a:bodyPr/>
          <a:lstStyle/>
          <a:p>
            <a:fld id="{EA87306C-81BA-4795-A5CA-9392456A8C1E}" type="slidenum">
              <a:rPr lang="en-US" smtClean="0"/>
              <a:pPr/>
              <a:t>8</a:t>
            </a:fld>
            <a:endParaRPr lang="en-US"/>
          </a:p>
        </p:txBody>
      </p:sp>
      <p:sp>
        <p:nvSpPr>
          <p:cNvPr id="11" name="TextBox 10">
            <a:extLst>
              <a:ext uri="{FF2B5EF4-FFF2-40B4-BE49-F238E27FC236}">
                <a16:creationId xmlns:a16="http://schemas.microsoft.com/office/drawing/2014/main" id="{2637F0FD-232F-9E7A-ECA4-8EBFE8295C2C}"/>
              </a:ext>
            </a:extLst>
          </p:cNvPr>
          <p:cNvSpPr txBox="1"/>
          <p:nvPr/>
        </p:nvSpPr>
        <p:spPr>
          <a:xfrm>
            <a:off x="320239" y="1850378"/>
            <a:ext cx="6271480" cy="3693319"/>
          </a:xfrm>
          <a:prstGeom prst="rect">
            <a:avLst/>
          </a:prstGeom>
          <a:noFill/>
        </p:spPr>
        <p:txBody>
          <a:bodyPr wrap="square" rtlCol="0">
            <a:spAutoFit/>
          </a:bodyPr>
          <a:lstStyle/>
          <a:p>
            <a:r>
              <a:rPr lang="en-US" dirty="0"/>
              <a:t>The study has the same number of babies in each feeding group, so it is fair to compare growth between the different feeding methods. All babies gain weight over 6 months, but babies with extra feeding (like breastfeeding plus water or formula) usually gain weight a little faster.</a:t>
            </a:r>
          </a:p>
          <a:p>
            <a:r>
              <a:rPr lang="en-US" dirty="0"/>
              <a:t>Equal distribution across four distinct feeding methods (n=180 per group).</a:t>
            </a:r>
          </a:p>
          <a:p>
            <a:endParaRPr lang="en-US" dirty="0"/>
          </a:p>
          <a:p>
            <a:r>
              <a:rPr lang="en-US" dirty="0"/>
              <a:t>Exclusive Breastfeeding: ~180 infants </a:t>
            </a:r>
          </a:p>
          <a:p>
            <a:r>
              <a:rPr lang="en-US" dirty="0"/>
              <a:t>Breastfeeding + Water: ~180 infants </a:t>
            </a:r>
          </a:p>
          <a:p>
            <a:r>
              <a:rPr lang="en-US" dirty="0"/>
              <a:t>No Breastfeeding (Formula): ~180 infants </a:t>
            </a:r>
          </a:p>
          <a:p>
            <a:r>
              <a:rPr lang="en-US" dirty="0"/>
              <a:t>Partial Breastfeeding: ~180 infants</a:t>
            </a:r>
          </a:p>
          <a:p>
            <a:endParaRPr lang="en-US" b="1" dirty="0"/>
          </a:p>
        </p:txBody>
      </p:sp>
      <p:pic>
        <p:nvPicPr>
          <p:cNvPr id="13" name="Picture 12">
            <a:extLst>
              <a:ext uri="{FF2B5EF4-FFF2-40B4-BE49-F238E27FC236}">
                <a16:creationId xmlns:a16="http://schemas.microsoft.com/office/drawing/2014/main" id="{A2928B67-4B05-4C64-85B0-E73E5AA0DA7B}"/>
              </a:ext>
            </a:extLst>
          </p:cNvPr>
          <p:cNvPicPr>
            <a:picLocks noChangeAspect="1"/>
          </p:cNvPicPr>
          <p:nvPr/>
        </p:nvPicPr>
        <p:blipFill>
          <a:blip r:embed="rId2"/>
          <a:srcRect/>
          <a:stretch/>
        </p:blipFill>
        <p:spPr>
          <a:xfrm>
            <a:off x="7026647" y="2189747"/>
            <a:ext cx="4170038" cy="2761796"/>
          </a:xfrm>
          <a:prstGeom prst="rect">
            <a:avLst/>
          </a:prstGeom>
        </p:spPr>
      </p:pic>
    </p:spTree>
    <p:extLst>
      <p:ext uri="{BB962C8B-B14F-4D97-AF65-F5344CB8AC3E}">
        <p14:creationId xmlns:p14="http://schemas.microsoft.com/office/powerpoint/2010/main" val="63302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BF638-074D-4245-8C1B-278339AEC4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E8116F-71CC-E49B-C37F-E69D76ED47BE}"/>
              </a:ext>
            </a:extLst>
          </p:cNvPr>
          <p:cNvSpPr>
            <a:spLocks noGrp="1"/>
          </p:cNvSpPr>
          <p:nvPr>
            <p:ph type="title"/>
          </p:nvPr>
        </p:nvSpPr>
        <p:spPr>
          <a:xfrm>
            <a:off x="0" y="0"/>
            <a:ext cx="12192000" cy="1402201"/>
          </a:xfrm>
        </p:spPr>
        <p:txBody>
          <a:bodyPr/>
          <a:lstStyle/>
          <a:p>
            <a:r>
              <a:rPr lang="en-US" b="1"/>
              <a:t>Weight Trajectory by Feeding Method</a:t>
            </a:r>
          </a:p>
        </p:txBody>
      </p:sp>
      <p:sp>
        <p:nvSpPr>
          <p:cNvPr id="2" name="Slide Number Placeholder 1">
            <a:extLst>
              <a:ext uri="{FF2B5EF4-FFF2-40B4-BE49-F238E27FC236}">
                <a16:creationId xmlns:a16="http://schemas.microsoft.com/office/drawing/2014/main" id="{38E88D77-BB45-4633-AF38-6EB51EC1D09B}"/>
              </a:ext>
            </a:extLst>
          </p:cNvPr>
          <p:cNvSpPr>
            <a:spLocks noGrp="1"/>
          </p:cNvSpPr>
          <p:nvPr>
            <p:ph type="sldNum" sz="quarter" idx="4"/>
          </p:nvPr>
        </p:nvSpPr>
        <p:spPr/>
        <p:txBody>
          <a:bodyPr/>
          <a:lstStyle/>
          <a:p>
            <a:fld id="{EA87306C-81BA-4795-A5CA-9392456A8C1E}" type="slidenum">
              <a:rPr lang="en-US" smtClean="0"/>
              <a:pPr/>
              <a:t>9</a:t>
            </a:fld>
            <a:endParaRPr lang="en-US"/>
          </a:p>
        </p:txBody>
      </p:sp>
      <p:sp>
        <p:nvSpPr>
          <p:cNvPr id="11" name="TextBox 10">
            <a:extLst>
              <a:ext uri="{FF2B5EF4-FFF2-40B4-BE49-F238E27FC236}">
                <a16:creationId xmlns:a16="http://schemas.microsoft.com/office/drawing/2014/main" id="{8414EC39-6198-6D7A-11EB-68E932FFC585}"/>
              </a:ext>
            </a:extLst>
          </p:cNvPr>
          <p:cNvSpPr txBox="1"/>
          <p:nvPr/>
        </p:nvSpPr>
        <p:spPr>
          <a:xfrm>
            <a:off x="522729" y="1526896"/>
            <a:ext cx="5023960" cy="4770537"/>
          </a:xfrm>
          <a:prstGeom prst="rect">
            <a:avLst/>
          </a:prstGeom>
          <a:noFill/>
        </p:spPr>
        <p:txBody>
          <a:bodyPr wrap="square" rtlCol="0">
            <a:spAutoFit/>
          </a:bodyPr>
          <a:lstStyle/>
          <a:p>
            <a:r>
              <a:rPr lang="en-US" dirty="0"/>
              <a:t>Babies who get breast milk plus extra drinks (like water or formula) usually gain weight the fastest. Giving extra milk or water on top of breastfeeding is linked to higher weight gain.</a:t>
            </a:r>
          </a:p>
          <a:p>
            <a:endParaRPr lang="en-US" b="1" dirty="0"/>
          </a:p>
          <a:p>
            <a:r>
              <a:rPr lang="en-US" b="1" dirty="0"/>
              <a:t>Month 1 (~4.5 kg, all groups aligned)</a:t>
            </a:r>
          </a:p>
          <a:p>
            <a:r>
              <a:rPr lang="en-US" sz="1600" dirty="0"/>
              <a:t>All babies start at almost the same average weight, about 4.5 kilograms. There is no real difference between feeding groups yet.</a:t>
            </a:r>
            <a:endParaRPr lang="en-US" sz="1600" b="1" dirty="0"/>
          </a:p>
          <a:p>
            <a:r>
              <a:rPr lang="en-US" b="1" dirty="0"/>
              <a:t>Month 3 (5.8–6.2 kg, divergence begins)</a:t>
            </a:r>
          </a:p>
          <a:p>
            <a:r>
              <a:rPr lang="en-US" sz="1600" dirty="0"/>
              <a:t>By the third month, babies in different feeding groups start to separate. Some groups are a little heavier than others, around 5.8–6.2 kilograms.</a:t>
            </a:r>
          </a:p>
          <a:p>
            <a:r>
              <a:rPr lang="en-US" b="1" dirty="0"/>
              <a:t>Month 6 (6.1–7.6 kg, feeding‑dependent peak)</a:t>
            </a:r>
          </a:p>
          <a:p>
            <a:r>
              <a:rPr lang="en-US" sz="1600" dirty="0"/>
              <a:t>At six months, the differences are clear. Average weight now depends on how the babies are fed, from about 6.1 to 7.6 kilograms, with some feeding methods leading to more weight gain than others.</a:t>
            </a:r>
          </a:p>
        </p:txBody>
      </p:sp>
      <p:pic>
        <p:nvPicPr>
          <p:cNvPr id="13" name="Picture 12">
            <a:extLst>
              <a:ext uri="{FF2B5EF4-FFF2-40B4-BE49-F238E27FC236}">
                <a16:creationId xmlns:a16="http://schemas.microsoft.com/office/drawing/2014/main" id="{1C4B665D-54E2-D7BE-7939-2A9EC1755931}"/>
              </a:ext>
            </a:extLst>
          </p:cNvPr>
          <p:cNvPicPr>
            <a:picLocks noChangeAspect="1"/>
          </p:cNvPicPr>
          <p:nvPr/>
        </p:nvPicPr>
        <p:blipFill>
          <a:blip r:embed="rId2"/>
          <a:srcRect/>
          <a:stretch/>
        </p:blipFill>
        <p:spPr>
          <a:xfrm>
            <a:off x="6862831" y="2428327"/>
            <a:ext cx="4509999" cy="2901896"/>
          </a:xfrm>
          <a:prstGeom prst="rect">
            <a:avLst/>
          </a:prstGeom>
        </p:spPr>
      </p:pic>
    </p:spTree>
    <p:extLst>
      <p:ext uri="{BB962C8B-B14F-4D97-AF65-F5344CB8AC3E}">
        <p14:creationId xmlns:p14="http://schemas.microsoft.com/office/powerpoint/2010/main" val="2012397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886A-C9D6-E1EC-0FC7-CD15D8798A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E960D5-D62D-AF41-7B6E-BF968FDFBFA3}"/>
              </a:ext>
            </a:extLst>
          </p:cNvPr>
          <p:cNvSpPr>
            <a:spLocks noGrp="1"/>
          </p:cNvSpPr>
          <p:nvPr>
            <p:ph type="title"/>
          </p:nvPr>
        </p:nvSpPr>
        <p:spPr>
          <a:xfrm>
            <a:off x="0" y="0"/>
            <a:ext cx="12192000" cy="1402201"/>
          </a:xfrm>
        </p:spPr>
        <p:txBody>
          <a:bodyPr/>
          <a:lstStyle/>
          <a:p>
            <a:r>
              <a:rPr lang="en-US" b="1"/>
              <a:t>Monkeypox Projects: Geographic Distribution</a:t>
            </a:r>
          </a:p>
        </p:txBody>
      </p:sp>
      <p:sp>
        <p:nvSpPr>
          <p:cNvPr id="2" name="Slide Number Placeholder 1">
            <a:extLst>
              <a:ext uri="{FF2B5EF4-FFF2-40B4-BE49-F238E27FC236}">
                <a16:creationId xmlns:a16="http://schemas.microsoft.com/office/drawing/2014/main" id="{34088281-C72D-259A-68C6-DF00DB014C78}"/>
              </a:ext>
            </a:extLst>
          </p:cNvPr>
          <p:cNvSpPr>
            <a:spLocks noGrp="1"/>
          </p:cNvSpPr>
          <p:nvPr>
            <p:ph type="sldNum" sz="quarter" idx="4"/>
          </p:nvPr>
        </p:nvSpPr>
        <p:spPr/>
        <p:txBody>
          <a:bodyPr/>
          <a:lstStyle/>
          <a:p>
            <a:fld id="{EA87306C-81BA-4795-A5CA-9392456A8C1E}" type="slidenum">
              <a:rPr lang="en-US" smtClean="0"/>
              <a:pPr/>
              <a:t>10</a:t>
            </a:fld>
            <a:endParaRPr lang="en-US"/>
          </a:p>
        </p:txBody>
      </p:sp>
      <p:sp>
        <p:nvSpPr>
          <p:cNvPr id="11" name="TextBox 10">
            <a:extLst>
              <a:ext uri="{FF2B5EF4-FFF2-40B4-BE49-F238E27FC236}">
                <a16:creationId xmlns:a16="http://schemas.microsoft.com/office/drawing/2014/main" id="{9DD4A821-31DF-E420-EB0F-862F6926396F}"/>
              </a:ext>
            </a:extLst>
          </p:cNvPr>
          <p:cNvSpPr txBox="1"/>
          <p:nvPr/>
        </p:nvSpPr>
        <p:spPr>
          <a:xfrm>
            <a:off x="522729" y="1748571"/>
            <a:ext cx="5023960" cy="3785652"/>
          </a:xfrm>
          <a:prstGeom prst="rect">
            <a:avLst/>
          </a:prstGeom>
          <a:noFill/>
        </p:spPr>
        <p:txBody>
          <a:bodyPr wrap="square" rtlCol="0">
            <a:spAutoFit/>
          </a:bodyPr>
          <a:lstStyle/>
          <a:p>
            <a:r>
              <a:rPr lang="en-US" sz="1600" dirty="0"/>
              <a:t>Most monkeypox research projects are in the USA, with fewer projects in other countries. This means research is mainly done in places that already have strong health systems. This graph shows that most work happens in rich, developed countries that have good laboratories and can produce vaccines, while poorer countries have only a few projects. Many of these studies test how well vaccines protect people and how well different medicines work against monkeypox, so the main focus is vaccine strength and drug effectiveness.</a:t>
            </a:r>
          </a:p>
          <a:p>
            <a:endParaRPr lang="en-US" sz="1600" b="1" dirty="0"/>
          </a:p>
          <a:p>
            <a:r>
              <a:rPr lang="en-US" sz="1600" b="1" dirty="0"/>
              <a:t>USA (Domestic): </a:t>
            </a:r>
            <a:r>
              <a:rPr lang="en-US" sz="1600" dirty="0"/>
              <a:t>~40 projects (71%)</a:t>
            </a:r>
          </a:p>
          <a:p>
            <a:r>
              <a:rPr lang="en-US" sz="1600" b="1" dirty="0"/>
              <a:t>International: </a:t>
            </a:r>
            <a:r>
              <a:rPr lang="en-US" sz="1600" dirty="0"/>
              <a:t>~6-8 projects per region</a:t>
            </a:r>
          </a:p>
          <a:p>
            <a:endParaRPr lang="en-US" sz="1600" dirty="0"/>
          </a:p>
        </p:txBody>
      </p:sp>
      <p:pic>
        <p:nvPicPr>
          <p:cNvPr id="13" name="Picture 12">
            <a:extLst>
              <a:ext uri="{FF2B5EF4-FFF2-40B4-BE49-F238E27FC236}">
                <a16:creationId xmlns:a16="http://schemas.microsoft.com/office/drawing/2014/main" id="{CD3A3E57-F1BF-C78D-16EE-B552CE70B615}"/>
              </a:ext>
            </a:extLst>
          </p:cNvPr>
          <p:cNvPicPr>
            <a:picLocks noChangeAspect="1"/>
          </p:cNvPicPr>
          <p:nvPr/>
        </p:nvPicPr>
        <p:blipFill>
          <a:blip r:embed="rId2"/>
          <a:srcRect/>
          <a:stretch/>
        </p:blipFill>
        <p:spPr>
          <a:xfrm>
            <a:off x="7035666" y="2161869"/>
            <a:ext cx="5023960" cy="3525876"/>
          </a:xfrm>
          <a:prstGeom prst="rect">
            <a:avLst/>
          </a:prstGeom>
        </p:spPr>
      </p:pic>
    </p:spTree>
    <p:extLst>
      <p:ext uri="{BB962C8B-B14F-4D97-AF65-F5344CB8AC3E}">
        <p14:creationId xmlns:p14="http://schemas.microsoft.com/office/powerpoint/2010/main" val="119740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95F21-E470-3EEF-C655-172817170C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A3CCE2-3B22-9DE0-FE7F-00DE7EBBA268}"/>
              </a:ext>
            </a:extLst>
          </p:cNvPr>
          <p:cNvSpPr>
            <a:spLocks noGrp="1"/>
          </p:cNvSpPr>
          <p:nvPr>
            <p:ph type="title"/>
          </p:nvPr>
        </p:nvSpPr>
        <p:spPr>
          <a:xfrm>
            <a:off x="0" y="0"/>
            <a:ext cx="12192000" cy="1402201"/>
          </a:xfrm>
        </p:spPr>
        <p:txBody>
          <a:bodyPr/>
          <a:lstStyle/>
          <a:p>
            <a:r>
              <a:rPr lang="en-US" b="1"/>
              <a:t>Monkeypox: Completion Timeline</a:t>
            </a:r>
          </a:p>
        </p:txBody>
      </p:sp>
      <p:sp>
        <p:nvSpPr>
          <p:cNvPr id="2" name="Slide Number Placeholder 1">
            <a:extLst>
              <a:ext uri="{FF2B5EF4-FFF2-40B4-BE49-F238E27FC236}">
                <a16:creationId xmlns:a16="http://schemas.microsoft.com/office/drawing/2014/main" id="{1F72CFB6-D619-0CD9-90FE-13F0CD75E9B7}"/>
              </a:ext>
            </a:extLst>
          </p:cNvPr>
          <p:cNvSpPr>
            <a:spLocks noGrp="1"/>
          </p:cNvSpPr>
          <p:nvPr>
            <p:ph type="sldNum" sz="quarter" idx="4"/>
          </p:nvPr>
        </p:nvSpPr>
        <p:spPr/>
        <p:txBody>
          <a:bodyPr/>
          <a:lstStyle/>
          <a:p>
            <a:fld id="{EA87306C-81BA-4795-A5CA-9392456A8C1E}" type="slidenum">
              <a:rPr lang="en-US" smtClean="0"/>
              <a:pPr/>
              <a:t>11</a:t>
            </a:fld>
            <a:endParaRPr lang="en-US"/>
          </a:p>
        </p:txBody>
      </p:sp>
      <p:sp>
        <p:nvSpPr>
          <p:cNvPr id="11" name="TextBox 10">
            <a:extLst>
              <a:ext uri="{FF2B5EF4-FFF2-40B4-BE49-F238E27FC236}">
                <a16:creationId xmlns:a16="http://schemas.microsoft.com/office/drawing/2014/main" id="{2DBECD17-ACFF-497F-1F17-379C8F69066C}"/>
              </a:ext>
            </a:extLst>
          </p:cNvPr>
          <p:cNvSpPr txBox="1"/>
          <p:nvPr/>
        </p:nvSpPr>
        <p:spPr>
          <a:xfrm>
            <a:off x="508874" y="2053368"/>
            <a:ext cx="5023960" cy="3046988"/>
          </a:xfrm>
          <a:prstGeom prst="rect">
            <a:avLst/>
          </a:prstGeom>
          <a:noFill/>
        </p:spPr>
        <p:txBody>
          <a:bodyPr wrap="square" rtlCol="0">
            <a:spAutoFit/>
          </a:bodyPr>
          <a:lstStyle/>
          <a:p>
            <a:r>
              <a:rPr lang="en-US" sz="1600" dirty="0"/>
              <a:t>Most projects are planned to finish in 2024 and 2025, so many results and new vaccines are expected in those years. After 2025, some projects will continue, but the largest wave of findings comes in that 2024–2025 period. Many of these studies focus on developing and testing vaccines, so vaccine projects are the main reason the research is moving quickly in the short term.</a:t>
            </a:r>
          </a:p>
          <a:p>
            <a:endParaRPr lang="en-US" sz="1600" b="1" dirty="0"/>
          </a:p>
          <a:p>
            <a:r>
              <a:rPr lang="en-US" sz="1600" b="1" dirty="0"/>
              <a:t>2022-2023: </a:t>
            </a:r>
            <a:r>
              <a:rPr lang="en-US" sz="1600" dirty="0"/>
              <a:t>~15 projects initiated</a:t>
            </a:r>
          </a:p>
          <a:p>
            <a:r>
              <a:rPr lang="en-US" sz="1600" b="1" dirty="0"/>
              <a:t>2024-2025: </a:t>
            </a:r>
            <a:r>
              <a:rPr lang="en-US" sz="1600" dirty="0"/>
              <a:t>~30 projects (peak activity)</a:t>
            </a:r>
          </a:p>
          <a:p>
            <a:r>
              <a:rPr lang="en-US" sz="1600" b="1" dirty="0"/>
              <a:t>2026+: </a:t>
            </a:r>
            <a:r>
              <a:rPr lang="en-US" sz="1600" dirty="0"/>
              <a:t>~15 projects (long-term studies)</a:t>
            </a:r>
          </a:p>
        </p:txBody>
      </p:sp>
      <p:pic>
        <p:nvPicPr>
          <p:cNvPr id="13" name="Picture 12">
            <a:extLst>
              <a:ext uri="{FF2B5EF4-FFF2-40B4-BE49-F238E27FC236}">
                <a16:creationId xmlns:a16="http://schemas.microsoft.com/office/drawing/2014/main" id="{2112970B-F5A2-A639-6C7A-D105A94E650C}"/>
              </a:ext>
            </a:extLst>
          </p:cNvPr>
          <p:cNvPicPr>
            <a:picLocks noChangeAspect="1"/>
          </p:cNvPicPr>
          <p:nvPr/>
        </p:nvPicPr>
        <p:blipFill>
          <a:blip r:embed="rId2"/>
          <a:srcRect/>
          <a:stretch/>
        </p:blipFill>
        <p:spPr>
          <a:xfrm>
            <a:off x="5828045" y="1963145"/>
            <a:ext cx="6231582" cy="4089475"/>
          </a:xfrm>
          <a:prstGeom prst="rect">
            <a:avLst/>
          </a:prstGeom>
        </p:spPr>
      </p:pic>
    </p:spTree>
    <p:extLst>
      <p:ext uri="{BB962C8B-B14F-4D97-AF65-F5344CB8AC3E}">
        <p14:creationId xmlns:p14="http://schemas.microsoft.com/office/powerpoint/2010/main" val="40387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B052A-678A-17DA-0DD1-C48AA50E27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3B6729-3994-5244-BC89-0D18A0B7956A}"/>
              </a:ext>
            </a:extLst>
          </p:cNvPr>
          <p:cNvSpPr>
            <a:spLocks noGrp="1"/>
          </p:cNvSpPr>
          <p:nvPr>
            <p:ph type="title"/>
          </p:nvPr>
        </p:nvSpPr>
        <p:spPr>
          <a:xfrm>
            <a:off x="0" y="0"/>
            <a:ext cx="12192000" cy="1402201"/>
          </a:xfrm>
        </p:spPr>
        <p:txBody>
          <a:bodyPr/>
          <a:lstStyle/>
          <a:p>
            <a:r>
              <a:rPr lang="en-US" b="1"/>
              <a:t>Research Scope: Description Length by Topic</a:t>
            </a:r>
          </a:p>
        </p:txBody>
      </p:sp>
      <p:sp>
        <p:nvSpPr>
          <p:cNvPr id="2" name="Slide Number Placeholder 1">
            <a:extLst>
              <a:ext uri="{FF2B5EF4-FFF2-40B4-BE49-F238E27FC236}">
                <a16:creationId xmlns:a16="http://schemas.microsoft.com/office/drawing/2014/main" id="{37618ECF-2282-EFBC-382E-BA93C1587D8D}"/>
              </a:ext>
            </a:extLst>
          </p:cNvPr>
          <p:cNvSpPr>
            <a:spLocks noGrp="1"/>
          </p:cNvSpPr>
          <p:nvPr>
            <p:ph type="sldNum" sz="quarter" idx="4"/>
          </p:nvPr>
        </p:nvSpPr>
        <p:spPr/>
        <p:txBody>
          <a:bodyPr/>
          <a:lstStyle/>
          <a:p>
            <a:fld id="{EA87306C-81BA-4795-A5CA-9392456A8C1E}" type="slidenum">
              <a:rPr lang="en-US" smtClean="0"/>
              <a:pPr/>
              <a:t>12</a:t>
            </a:fld>
            <a:endParaRPr lang="en-US"/>
          </a:p>
        </p:txBody>
      </p:sp>
      <p:sp>
        <p:nvSpPr>
          <p:cNvPr id="11" name="TextBox 10">
            <a:extLst>
              <a:ext uri="{FF2B5EF4-FFF2-40B4-BE49-F238E27FC236}">
                <a16:creationId xmlns:a16="http://schemas.microsoft.com/office/drawing/2014/main" id="{9AFC8739-6A5C-5084-4736-FF28AAD185CB}"/>
              </a:ext>
            </a:extLst>
          </p:cNvPr>
          <p:cNvSpPr txBox="1"/>
          <p:nvPr/>
        </p:nvSpPr>
        <p:spPr>
          <a:xfrm>
            <a:off x="522729" y="2579840"/>
            <a:ext cx="5023960" cy="2554545"/>
          </a:xfrm>
          <a:prstGeom prst="rect">
            <a:avLst/>
          </a:prstGeom>
          <a:noFill/>
        </p:spPr>
        <p:txBody>
          <a:bodyPr wrap="square" rtlCol="0">
            <a:spAutoFit/>
          </a:bodyPr>
          <a:lstStyle/>
          <a:p>
            <a:r>
              <a:rPr lang="en-US" sz="1600" dirty="0"/>
              <a:t>Projects about vaccines usually have the longest written descriptions. This suggests these studies are more complex and have many details to explain. Longer descriptions therefore signal that the project is more complicated than others.</a:t>
            </a:r>
          </a:p>
          <a:p>
            <a:endParaRPr lang="en-US" sz="1600" b="1" dirty="0"/>
          </a:p>
          <a:p>
            <a:r>
              <a:rPr lang="en-US" sz="1600" b="1" dirty="0"/>
              <a:t>Vaccine/Therapeutic: </a:t>
            </a:r>
            <a:r>
              <a:rPr lang="en-US" sz="1600" dirty="0"/>
              <a:t>400-1200 characters (most detailed)</a:t>
            </a:r>
          </a:p>
          <a:p>
            <a:r>
              <a:rPr lang="en-US" sz="1600" b="1" dirty="0"/>
              <a:t>Epidemiology: </a:t>
            </a:r>
            <a:r>
              <a:rPr lang="en-US" sz="1600" dirty="0"/>
              <a:t>300-700 characters (moderate detail)</a:t>
            </a:r>
          </a:p>
          <a:p>
            <a:r>
              <a:rPr lang="en-US" sz="1600" b="1" dirty="0"/>
              <a:t>Outreach/Lab Safety: </a:t>
            </a:r>
            <a:r>
              <a:rPr lang="en-US" sz="1600" dirty="0"/>
              <a:t>250-400 characters (concise)</a:t>
            </a:r>
          </a:p>
        </p:txBody>
      </p:sp>
      <p:pic>
        <p:nvPicPr>
          <p:cNvPr id="13" name="Picture 12">
            <a:extLst>
              <a:ext uri="{FF2B5EF4-FFF2-40B4-BE49-F238E27FC236}">
                <a16:creationId xmlns:a16="http://schemas.microsoft.com/office/drawing/2014/main" id="{23F90736-852B-1A6C-E167-F1A78A166F5E}"/>
              </a:ext>
            </a:extLst>
          </p:cNvPr>
          <p:cNvPicPr>
            <a:picLocks noChangeAspect="1"/>
          </p:cNvPicPr>
          <p:nvPr/>
        </p:nvPicPr>
        <p:blipFill>
          <a:blip r:embed="rId2"/>
          <a:srcRect/>
          <a:stretch/>
        </p:blipFill>
        <p:spPr>
          <a:xfrm>
            <a:off x="6323037" y="2154418"/>
            <a:ext cx="5241597" cy="3706929"/>
          </a:xfrm>
          <a:prstGeom prst="rect">
            <a:avLst/>
          </a:prstGeom>
        </p:spPr>
      </p:pic>
    </p:spTree>
    <p:extLst>
      <p:ext uri="{BB962C8B-B14F-4D97-AF65-F5344CB8AC3E}">
        <p14:creationId xmlns:p14="http://schemas.microsoft.com/office/powerpoint/2010/main" val="42962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0119-8451-FF73-85C9-31333F299E8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FFE9EB9-2B6C-EB03-5F1A-3F1647182272}"/>
              </a:ext>
            </a:extLst>
          </p:cNvPr>
          <p:cNvSpPr>
            <a:spLocks noGrp="1"/>
          </p:cNvSpPr>
          <p:nvPr>
            <p:ph type="title"/>
          </p:nvPr>
        </p:nvSpPr>
        <p:spPr>
          <a:xfrm>
            <a:off x="838200" y="226143"/>
            <a:ext cx="10515600" cy="1229033"/>
          </a:xfrm>
        </p:spPr>
        <p:txBody>
          <a:bodyPr/>
          <a:lstStyle/>
          <a:p>
            <a:r>
              <a:rPr lang="en-US" b="1" dirty="0"/>
              <a:t>conclusion</a:t>
            </a:r>
          </a:p>
        </p:txBody>
      </p:sp>
      <p:sp>
        <p:nvSpPr>
          <p:cNvPr id="7" name="Content Placeholder 6">
            <a:extLst>
              <a:ext uri="{FF2B5EF4-FFF2-40B4-BE49-F238E27FC236}">
                <a16:creationId xmlns:a16="http://schemas.microsoft.com/office/drawing/2014/main" id="{9488F07B-182A-5354-A632-3BE48D53997A}"/>
              </a:ext>
            </a:extLst>
          </p:cNvPr>
          <p:cNvSpPr>
            <a:spLocks noGrp="1"/>
          </p:cNvSpPr>
          <p:nvPr>
            <p:ph sz="quarter" idx="10"/>
          </p:nvPr>
        </p:nvSpPr>
        <p:spPr>
          <a:xfrm>
            <a:off x="215351" y="2200588"/>
            <a:ext cx="11812526" cy="4155761"/>
          </a:xfrm>
        </p:spPr>
        <p:txBody>
          <a:bodyPr/>
          <a:lstStyle/>
          <a:p>
            <a:pPr marL="0" indent="0">
              <a:buNone/>
            </a:pPr>
            <a:r>
              <a:rPr lang="en-US" sz="1600"/>
              <a:t>The celiac disease data show that many diagnoses happen between ages 10 and 14, and blood tests that measure immune markers (IgA, IgG, IgM) are very helpful for finding the disease. </a:t>
            </a:r>
          </a:p>
          <a:p>
            <a:pPr marL="0" indent="0">
              <a:buNone/>
            </a:pPr>
            <a:r>
              <a:rPr lang="en-US" sz="1600"/>
              <a:t>The infant feeding data show that all four feeding methods let babies grow, but by month 3 the weight lines start to separate, so early feeding choices already change growth patterns.</a:t>
            </a:r>
          </a:p>
          <a:p>
            <a:pPr marL="0" indent="0">
              <a:buNone/>
            </a:pPr>
            <a:r>
              <a:rPr lang="en-US" sz="1600"/>
              <a:t>The monkeypox data show how research and vaccines are planned and funded over time, with most projects led by the USA and many finishing around 2024–2025.</a:t>
            </a:r>
            <a:endParaRPr lang="en-US" sz="1900"/>
          </a:p>
          <a:p>
            <a:pPr marL="0" indent="0">
              <a:buNone/>
            </a:pPr>
            <a:r>
              <a:rPr lang="en-US" sz="1600"/>
              <a:t>Together, these datasets suggest that early life feeding like breastfeeding patterns in the first 6 months, may shape immune development and gut health, which later connects to diseases such as celiac that appear in childhood and adolescence.</a:t>
            </a:r>
          </a:p>
          <a:p>
            <a:pPr marL="0" indent="0">
              <a:buNone/>
            </a:pPr>
            <a:r>
              <a:rPr lang="en-US" sz="1600"/>
              <a:t>This project uses real infant growth data plus celiac lab data to support the idea that healthy, well‑planned early feeding could help protect long‑term digestive and immune health.</a:t>
            </a:r>
          </a:p>
        </p:txBody>
      </p:sp>
      <p:sp>
        <p:nvSpPr>
          <p:cNvPr id="2" name="Slide Number Placeholder 1">
            <a:extLst>
              <a:ext uri="{FF2B5EF4-FFF2-40B4-BE49-F238E27FC236}">
                <a16:creationId xmlns:a16="http://schemas.microsoft.com/office/drawing/2014/main" id="{48F1BB2A-968F-BB05-C52D-1E28604C4A27}"/>
              </a:ext>
            </a:extLst>
          </p:cNvPr>
          <p:cNvSpPr>
            <a:spLocks noGrp="1"/>
          </p:cNvSpPr>
          <p:nvPr>
            <p:ph type="sldNum" sz="quarter" idx="4"/>
          </p:nvPr>
        </p:nvSpPr>
        <p:spPr/>
        <p:txBody>
          <a:bodyPr/>
          <a:lstStyle/>
          <a:p>
            <a:fld id="{EA87306C-81BA-4795-A5CA-9392456A8C1E}" type="slidenum">
              <a:rPr lang="en-US" smtClean="0"/>
              <a:pPr/>
              <a:t>13</a:t>
            </a:fld>
            <a:endParaRPr lang="en-US"/>
          </a:p>
        </p:txBody>
      </p:sp>
    </p:spTree>
    <p:extLst>
      <p:ext uri="{BB962C8B-B14F-4D97-AF65-F5344CB8AC3E}">
        <p14:creationId xmlns:p14="http://schemas.microsoft.com/office/powerpoint/2010/main" val="2833705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CE8BE-6860-6426-2E81-C2652F2F7104}"/>
              </a:ext>
            </a:extLst>
          </p:cNvPr>
          <p:cNvSpPr>
            <a:spLocks noGrp="1"/>
          </p:cNvSpPr>
          <p:nvPr>
            <p:ph type="title"/>
          </p:nvPr>
        </p:nvSpPr>
        <p:spPr/>
        <p:txBody>
          <a:bodyPr/>
          <a:lstStyle/>
          <a:p>
            <a:r>
              <a:rPr lang="en-US" b="1" dirty="0"/>
              <a:t>Challenges</a:t>
            </a:r>
          </a:p>
        </p:txBody>
      </p:sp>
      <p:sp>
        <p:nvSpPr>
          <p:cNvPr id="5" name="Slide Number Placeholder 4">
            <a:extLst>
              <a:ext uri="{FF2B5EF4-FFF2-40B4-BE49-F238E27FC236}">
                <a16:creationId xmlns:a16="http://schemas.microsoft.com/office/drawing/2014/main" id="{A42EEF6E-97D3-2D46-8193-3ED163A4712B}"/>
              </a:ext>
            </a:extLst>
          </p:cNvPr>
          <p:cNvSpPr>
            <a:spLocks noGrp="1"/>
          </p:cNvSpPr>
          <p:nvPr>
            <p:ph type="sldNum" sz="quarter" idx="4"/>
          </p:nvPr>
        </p:nvSpPr>
        <p:spPr/>
        <p:txBody>
          <a:bodyPr/>
          <a:lstStyle/>
          <a:p>
            <a:fld id="{EA87306C-81BA-4795-A5CA-9392456A8C1E}" type="slidenum">
              <a:rPr lang="en-US" smtClean="0"/>
              <a:pPr/>
              <a:t>14</a:t>
            </a:fld>
            <a:endParaRPr lang="en-US"/>
          </a:p>
        </p:txBody>
      </p:sp>
      <p:sp>
        <p:nvSpPr>
          <p:cNvPr id="6" name="Rectangle 1">
            <a:extLst>
              <a:ext uri="{FF2B5EF4-FFF2-40B4-BE49-F238E27FC236}">
                <a16:creationId xmlns:a16="http://schemas.microsoft.com/office/drawing/2014/main" id="{5428220C-9FED-D851-9B31-37E1B867FDF6}"/>
              </a:ext>
            </a:extLst>
          </p:cNvPr>
          <p:cNvSpPr>
            <a:spLocks noGrp="1" noChangeArrowheads="1"/>
          </p:cNvSpPr>
          <p:nvPr>
            <p:ph sz="quarter" idx="11"/>
          </p:nvPr>
        </p:nvSpPr>
        <p:spPr bwMode="auto">
          <a:xfrm>
            <a:off x="427443" y="2321004"/>
            <a:ext cx="11337113"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eaLnBrk="0" fontAlgn="base" hangingPunct="0">
              <a:lnSpc>
                <a:spcPct val="100000"/>
              </a:lnSpc>
              <a:spcBef>
                <a:spcPct val="0"/>
              </a:spcBef>
              <a:spcAft>
                <a:spcPct val="0"/>
              </a:spcAft>
            </a:pPr>
            <a:endParaRPr lang="en-US" altLang="en-US" dirty="0">
              <a:latin typeface="Arial" panose="020B0604020202020204" pitchFamily="34" charset="0"/>
            </a:endParaRP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dirty="0">
                <a:latin typeface="Arial" panose="020B0604020202020204" pitchFamily="34" charset="0"/>
              </a:rPr>
              <a:t>Integrating three heterogeneous health datasets (infant growth, celiac labs, and monkeypox research summaries) required extensive cleaning, standardization, and careful joining before any reliable analysis was possible.​</a:t>
            </a: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dirty="0">
                <a:latin typeface="Arial" panose="020B0604020202020204" pitchFamily="34" charset="0"/>
              </a:rPr>
              <a:t>Extracting clear clinical insights was challenging because key variables (feeding patterns, immunoglobulin levels, research regions and timelines) were encoded inconsistently, forcing custom mappings, derived features, and multiple validation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3339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3E311-7EB8-B381-427E-2EC1712C50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9643CF-146C-E7E9-CCA3-7152FB3A9D30}"/>
              </a:ext>
            </a:extLst>
          </p:cNvPr>
          <p:cNvSpPr>
            <a:spLocks noGrp="1"/>
          </p:cNvSpPr>
          <p:nvPr>
            <p:ph type="title"/>
          </p:nvPr>
        </p:nvSpPr>
        <p:spPr>
          <a:xfrm>
            <a:off x="411718" y="1784008"/>
            <a:ext cx="4442603" cy="2124827"/>
          </a:xfrm>
        </p:spPr>
        <p:txBody>
          <a:bodyPr/>
          <a:lstStyle/>
          <a:p>
            <a:r>
              <a:rPr lang="en-US" b="1" dirty="0"/>
              <a:t>Thank you</a:t>
            </a:r>
          </a:p>
        </p:txBody>
      </p:sp>
      <p:pic>
        <p:nvPicPr>
          <p:cNvPr id="9" name="Picture 8" descr="A diagram of a child's body&#10;&#10;AI-generated content may be incorrect.">
            <a:extLst>
              <a:ext uri="{FF2B5EF4-FFF2-40B4-BE49-F238E27FC236}">
                <a16:creationId xmlns:a16="http://schemas.microsoft.com/office/drawing/2014/main" id="{06B89444-EC50-9745-840D-1FE874246C93}"/>
              </a:ext>
            </a:extLst>
          </p:cNvPr>
          <p:cNvPicPr>
            <a:picLocks noChangeAspect="1"/>
          </p:cNvPicPr>
          <p:nvPr/>
        </p:nvPicPr>
        <p:blipFill>
          <a:blip r:embed="rId3"/>
          <a:stretch>
            <a:fillRect/>
          </a:stretch>
        </p:blipFill>
        <p:spPr>
          <a:xfrm>
            <a:off x="5459183" y="9494"/>
            <a:ext cx="6735619" cy="6848506"/>
          </a:xfrm>
          <a:prstGeom prst="rect">
            <a:avLst/>
          </a:prstGeom>
        </p:spPr>
      </p:pic>
    </p:spTree>
    <p:extLst>
      <p:ext uri="{BB962C8B-B14F-4D97-AF65-F5344CB8AC3E}">
        <p14:creationId xmlns:p14="http://schemas.microsoft.com/office/powerpoint/2010/main" val="178438360"/>
      </p:ext>
    </p:extLst>
  </p:cSld>
  <p:clrMapOvr>
    <a:masterClrMapping/>
  </p:clrMapOvr>
</p:sld>
</file>

<file path=ppt/theme/theme1.xml><?xml version="1.0" encoding="utf-8"?>
<a:theme xmlns:a="http://schemas.openxmlformats.org/drawingml/2006/main" name="Custom">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175_Win32_SL_V6" id="{2596AF0E-92BF-4F5A-A2A1-B1C9D33CD0CE}" vid="{0709752F-9199-467A-B305-5274ECB683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AD180A-D253-4F84-BD24-8EE736E6553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F19A644-6410-4EC7-894C-877E70305DFF}">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E9424615-5FE5-4F43-AE24-3BC9A053268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{7A5C1557-971A-4FAC-94B8-58540ABE7F7A}TF8c6975b0-03aa-48e8-8a23-2a6072f108da7bca746b_win32-937fb968a2bf</Template>
  <TotalTime>4264</TotalTime>
  <Words>1263</Words>
  <Application>Microsoft Macintosh PowerPoint</Application>
  <PresentationFormat>Widescreen</PresentationFormat>
  <Paragraphs>104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Tenorite </vt:lpstr>
      <vt:lpstr>Tenorite Bold</vt:lpstr>
      <vt:lpstr>Custom</vt:lpstr>
      <vt:lpstr>Correlation Between Breastfeeding Practices &amp; Gluten Sensitivity Risk</vt:lpstr>
      <vt:lpstr>Project Introduction</vt:lpstr>
      <vt:lpstr>Data sources &amp; approach</vt:lpstr>
      <vt:lpstr>Data Processing &amp; Methods</vt:lpstr>
      <vt:lpstr>Celiac Disease: Age Distribution</vt:lpstr>
      <vt:lpstr>Age &amp; Immunoglobulins Correlation</vt:lpstr>
      <vt:lpstr>IgA Levels by Celiac Type</vt:lpstr>
      <vt:lpstr>Infant Feeding Method Distribution</vt:lpstr>
      <vt:lpstr>Weight Trajectory by Feeding Method</vt:lpstr>
      <vt:lpstr>Monkeypox Projects: Geographic Distribution</vt:lpstr>
      <vt:lpstr>Monkeypox: Completion Timeline</vt:lpstr>
      <vt:lpstr>Research Scope: Description Length by Topic</vt:lpstr>
      <vt:lpstr>conclusion</vt:lpstr>
      <vt:lpstr>Challenges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Samira Kazimi</dc:creator>
  <cp:lastModifiedBy>Samira Kazimi</cp:lastModifiedBy>
  <cp:revision>1</cp:revision>
  <dcterms:created xsi:type="dcterms:W3CDTF">2025-11-26T08:28:41Z</dcterms:created>
  <dcterms:modified xsi:type="dcterms:W3CDTF">2025-12-08T07:28:36Z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